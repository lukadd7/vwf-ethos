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8a10844b7d42f1" /><Relationship Type="http://schemas.openxmlformats.org/officeDocument/2006/relationships/extended-properties" Target="/docProps/app.xml" Id="R16b4472050e7423f" /><Relationship Type="http://schemas.openxmlformats.org/officeDocument/2006/relationships/officeDocument" Target="/ppt/presentation.xml" Id="Rf45cc7d2d59b47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caee3f2e4442ab"/>
  </p:sldMasterIdLst>
  <p:notesMasterIdLst>
    <p:notesMasterId xmlns:r="http://schemas.openxmlformats.org/officeDocument/2006/relationships" r:id="R4020f1b98e304c41"/>
  </p:notesMasterIdLst>
  <p:sldIdLst>
    <p:sldId xmlns:r="http://schemas.openxmlformats.org/officeDocument/2006/relationships" id="256" r:id="R4f1d08cead044bbd"/>
    <p:sldId xmlns:r="http://schemas.openxmlformats.org/officeDocument/2006/relationships" id="257" r:id="R245a7610b4744af4"/>
    <p:sldId xmlns:r="http://schemas.openxmlformats.org/officeDocument/2006/relationships" id="258" r:id="R272dd64822724fba"/>
    <p:sldId xmlns:r="http://schemas.openxmlformats.org/officeDocument/2006/relationships" id="259" r:id="R3aef230354594ce5"/>
    <p:sldId xmlns:r="http://schemas.openxmlformats.org/officeDocument/2006/relationships" id="260" r:id="Rdd2f7b67eee44acc"/>
    <p:sldId xmlns:r="http://schemas.openxmlformats.org/officeDocument/2006/relationships" id="261" r:id="R1d076d34b4474908"/>
    <p:sldId xmlns:r="http://schemas.openxmlformats.org/officeDocument/2006/relationships" id="262" r:id="R270618d239f440ff"/>
    <p:sldId xmlns:r="http://schemas.openxmlformats.org/officeDocument/2006/relationships" id="263" r:id="R14eb7eced15e44ca"/>
    <p:sldId xmlns:r="http://schemas.openxmlformats.org/officeDocument/2006/relationships" id="264" r:id="R333739e05afc475f"/>
    <p:sldId xmlns:r="http://schemas.openxmlformats.org/officeDocument/2006/relationships" id="265" r:id="Rd565a38b7c694786"/>
    <p:sldId xmlns:r="http://schemas.openxmlformats.org/officeDocument/2006/relationships" id="266" r:id="Rc7f88e58dc1c4b3b"/>
    <p:sldId xmlns:r="http://schemas.openxmlformats.org/officeDocument/2006/relationships" id="267" r:id="Rccb5c54418794fbe"/>
    <p:sldId xmlns:r="http://schemas.openxmlformats.org/officeDocument/2006/relationships" id="268" r:id="R1fd611e4291940b5"/>
    <p:sldId xmlns:r="http://schemas.openxmlformats.org/officeDocument/2006/relationships" id="269" r:id="R6510849bc30e4ddc"/>
    <p:sldId xmlns:r="http://schemas.openxmlformats.org/officeDocument/2006/relationships" id="270" r:id="R90ebebd9b01c4ba6"/>
    <p:sldId xmlns:r="http://schemas.openxmlformats.org/officeDocument/2006/relationships" id="271" r:id="R1a008e0d537442b4"/>
    <p:sldId xmlns:r="http://schemas.openxmlformats.org/officeDocument/2006/relationships" id="272" r:id="Ra4967984e12845c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db7284c6364dc3" /><Relationship Type="http://schemas.openxmlformats.org/officeDocument/2006/relationships/slideMaster" Target="/ppt/slideMasters/slideMaster1.xml" Id="Rd2caee3f2e4442ab" /><Relationship Type="http://schemas.openxmlformats.org/officeDocument/2006/relationships/notesMaster" Target="/ppt/notesMasters/notesMaster1.xml" Id="R4020f1b98e304c41" /><Relationship Type="http://schemas.openxmlformats.org/officeDocument/2006/relationships/presProps" Target="/ppt/presProps.xml" Id="Radaf880e2e2f482a" /><Relationship Type="http://schemas.openxmlformats.org/officeDocument/2006/relationships/tableStyles" Target="/ppt/tableStyles.xml" Id="R4bc0137dd0ff4ab3" /><Relationship Type="http://schemas.openxmlformats.org/officeDocument/2006/relationships/slide" Target="/ppt/slides/slide1.xml" Id="R4f1d08cead044bbd" /><Relationship Type="http://schemas.openxmlformats.org/officeDocument/2006/relationships/slide" Target="/ppt/slides/slide2.xml" Id="R245a7610b4744af4" /><Relationship Type="http://schemas.openxmlformats.org/officeDocument/2006/relationships/slide" Target="/ppt/slides/slide3.xml" Id="R272dd64822724fba" /><Relationship Type="http://schemas.openxmlformats.org/officeDocument/2006/relationships/slide" Target="/ppt/slides/slide4.xml" Id="R3aef230354594ce5" /><Relationship Type="http://schemas.openxmlformats.org/officeDocument/2006/relationships/slide" Target="/ppt/slides/slide5.xml" Id="Rdd2f7b67eee44acc" /><Relationship Type="http://schemas.openxmlformats.org/officeDocument/2006/relationships/slide" Target="/ppt/slides/slide6.xml" Id="R1d076d34b4474908" /><Relationship Type="http://schemas.openxmlformats.org/officeDocument/2006/relationships/slide" Target="/ppt/slides/slide7.xml" Id="R270618d239f440ff" /><Relationship Type="http://schemas.openxmlformats.org/officeDocument/2006/relationships/slide" Target="/ppt/slides/slide8.xml" Id="R14eb7eced15e44ca" /><Relationship Type="http://schemas.openxmlformats.org/officeDocument/2006/relationships/slide" Target="/ppt/slides/slide9.xml" Id="R333739e05afc475f" /><Relationship Type="http://schemas.openxmlformats.org/officeDocument/2006/relationships/slide" Target="/ppt/slides/slide10.xml" Id="Rd565a38b7c694786" /><Relationship Type="http://schemas.openxmlformats.org/officeDocument/2006/relationships/slide" Target="/ppt/slides/slide11.xml" Id="Rc7f88e58dc1c4b3b" /><Relationship Type="http://schemas.openxmlformats.org/officeDocument/2006/relationships/slide" Target="/ppt/slides/slide12.xml" Id="Rccb5c54418794fbe" /><Relationship Type="http://schemas.openxmlformats.org/officeDocument/2006/relationships/slide" Target="/ppt/slides/slide13.xml" Id="R1fd611e4291940b5" /><Relationship Type="http://schemas.openxmlformats.org/officeDocument/2006/relationships/slide" Target="/ppt/slides/slide14.xml" Id="R6510849bc30e4ddc" /><Relationship Type="http://schemas.openxmlformats.org/officeDocument/2006/relationships/slide" Target="/ppt/slides/slide15.xml" Id="R90ebebd9b01c4ba6" /><Relationship Type="http://schemas.openxmlformats.org/officeDocument/2006/relationships/slide" Target="/ppt/slides/slide16.xml" Id="R1a008e0d537442b4" /><Relationship Type="http://schemas.openxmlformats.org/officeDocument/2006/relationships/slide" Target="/ppt/slides/slide17.xml" Id="Ra4967984e12845c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616a901acc4f8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ef93c1950d41c3" /><Relationship Type="http://schemas.openxmlformats.org/officeDocument/2006/relationships/notesMaster" Target="/ppt/notesMasters/notesMaster1.xml" Id="Rac520b1eb44a4b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d204561a1364602" /><Relationship Type="http://schemas.openxmlformats.org/officeDocument/2006/relationships/notesMaster" Target="/ppt/notesMasters/notesMaster1.xml" Id="R3f5ed691217342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6ad201468ab474b" /><Relationship Type="http://schemas.openxmlformats.org/officeDocument/2006/relationships/notesMaster" Target="/ppt/notesMasters/notesMaster1.xml" Id="R80d67e0bd05140f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57ccceac3fb4316" /><Relationship Type="http://schemas.openxmlformats.org/officeDocument/2006/relationships/notesMaster" Target="/ppt/notesMasters/notesMaster1.xml" Id="Re36c8c89f30d40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6ce606090ad448e" /><Relationship Type="http://schemas.openxmlformats.org/officeDocument/2006/relationships/notesMaster" Target="/ppt/notesMasters/notesMaster1.xml" Id="R93e8ff59ae784d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0b0a1f430a406b" /><Relationship Type="http://schemas.openxmlformats.org/officeDocument/2006/relationships/notesMaster" Target="/ppt/notesMasters/notesMaster1.xml" Id="R27b5b59b313c401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c21ebbd531408c" /><Relationship Type="http://schemas.openxmlformats.org/officeDocument/2006/relationships/notesMaster" Target="/ppt/notesMasters/notesMaster1.xml" Id="R42581f06db1447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565d19e6cc4ea5" /><Relationship Type="http://schemas.openxmlformats.org/officeDocument/2006/relationships/notesMaster" Target="/ppt/notesMasters/notesMaster1.xml" Id="R5953a7c1278a42c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18c1e8e97e3447f" /><Relationship Type="http://schemas.openxmlformats.org/officeDocument/2006/relationships/notesMaster" Target="/ppt/notesMasters/notesMaster1.xml" Id="R77a2cfe8e3f2469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7f761e26efc4d84" /><Relationship Type="http://schemas.openxmlformats.org/officeDocument/2006/relationships/notesMaster" Target="/ppt/notesMasters/notesMaster1.xml" Id="Ra580814a93cc4b7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e143e6056a74b9c" /><Relationship Type="http://schemas.openxmlformats.org/officeDocument/2006/relationships/notesMaster" Target="/ppt/notesMasters/notesMaster1.xml" Id="Rd638f17786bc4b8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919a1cfcfa14db6" /><Relationship Type="http://schemas.openxmlformats.org/officeDocument/2006/relationships/notesMaster" Target="/ppt/notesMasters/notesMaster1.xml" Id="Rfd54957aef8f4a5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005f57f27784e11" /><Relationship Type="http://schemas.openxmlformats.org/officeDocument/2006/relationships/notesMaster" Target="/ppt/notesMasters/notesMaster1.xml" Id="R0bef0d74739744c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b544e1856634f2b" /><Relationship Type="http://schemas.openxmlformats.org/officeDocument/2006/relationships/notesMaster" Target="/ppt/notesMasters/notesMaster1.xml" Id="R3b9606d7e1694ca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ebcfab001824c98" /><Relationship Type="http://schemas.openxmlformats.org/officeDocument/2006/relationships/notesMaster" Target="/ppt/notesMasters/notesMaster1.xml" Id="Ra643f8112f0641a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c45e10ff3c440ed" /><Relationship Type="http://schemas.openxmlformats.org/officeDocument/2006/relationships/notesMaster" Target="/ppt/notesMasters/notesMaster1.xml" Id="Ra62182db2ba046c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8cba2f6077447cf" /><Relationship Type="http://schemas.openxmlformats.org/officeDocument/2006/relationships/notesMaster" Target="/ppt/notesMasters/notesMaster1.xml" Id="Rf310b04f6c5d4d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e4f1b5b3534f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06d1044df0547d8" /><Relationship Type="http://schemas.openxmlformats.org/officeDocument/2006/relationships/slideLayout" Target="/ppt/slideLayouts/slideLayout1.xml" Id="Raf5263d9b65648d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5263d9b65648d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eb7c617b024531" /><Relationship Type="http://schemas.openxmlformats.org/officeDocument/2006/relationships/notesSlide" Target="/ppt/notesSlides/notesSlide1.xml" Id="Rf929aaa6314049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0502287b4e4f3c" /><Relationship Type="http://schemas.openxmlformats.org/officeDocument/2006/relationships/notesSlide" Target="/ppt/notesSlides/notesSlide2.xml" Id="Raa076445d1ee45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cd396f3fc34b34" /><Relationship Type="http://schemas.openxmlformats.org/officeDocument/2006/relationships/chart" Target="/ppt/slides/charts/chart1.xml" Id="Rd2fff17d37bb4758" /><Relationship Type="http://schemas.openxmlformats.org/officeDocument/2006/relationships/notesSlide" Target="/ppt/notesSlides/notesSlide3.xml" Id="R91d3ed92304a446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b4d159b9f8423b" /><Relationship Type="http://schemas.openxmlformats.org/officeDocument/2006/relationships/chart" Target="/ppt/slides/charts/chart2.xml" Id="R60a05b1dccf94de5" /><Relationship Type="http://schemas.openxmlformats.org/officeDocument/2006/relationships/notesSlide" Target="/ppt/notesSlides/notesSlide4.xml" Id="R3a97d893305a40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bc7b0a881140f8" /><Relationship Type="http://schemas.openxmlformats.org/officeDocument/2006/relationships/notesSlide" Target="/ppt/notesSlides/notesSlide5.xml" Id="R241eeff73ce842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b8f1e76688412a" /><Relationship Type="http://schemas.openxmlformats.org/officeDocument/2006/relationships/notesSlide" Target="/ppt/notesSlides/notesSlide6.xml" Id="Re82a2a26444c4f4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38c2dce9ad42dc" /><Relationship Type="http://schemas.openxmlformats.org/officeDocument/2006/relationships/notesSlide" Target="/ppt/notesSlides/notesSlide7.xml" Id="Rfc63fa57ba8843e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8ac2f4ce5f496e" /><Relationship Type="http://schemas.openxmlformats.org/officeDocument/2006/relationships/notesSlide" Target="/ppt/notesSlides/notesSlide8.xml" Id="R72b56570f97244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07ab336511425c" /><Relationship Type="http://schemas.openxmlformats.org/officeDocument/2006/relationships/notesSlide" Target="/ppt/notesSlides/notesSlide9.xml" Id="Refdaeedc6626416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f71750f90493d" /><Relationship Type="http://schemas.openxmlformats.org/officeDocument/2006/relationships/notesSlide" Target="/ppt/notesSlides/notesSlide10.xml" Id="R3105cf2aa23b4a4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a67a945d54dc6" /><Relationship Type="http://schemas.openxmlformats.org/officeDocument/2006/relationships/notesSlide" Target="/ppt/notesSlides/notesSlide11.xml" Id="Rab227ff5f8a8460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2ae1cfba8c427e" /><Relationship Type="http://schemas.openxmlformats.org/officeDocument/2006/relationships/notesSlide" Target="/ppt/notesSlides/notesSlide12.xml" Id="R9ccec4115367400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60f339e78043b3" /><Relationship Type="http://schemas.openxmlformats.org/officeDocument/2006/relationships/notesSlide" Target="/ppt/notesSlides/notesSlide13.xml" Id="R6e3c5d413c9f4a2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c6dfdb5e7342b5" /><Relationship Type="http://schemas.openxmlformats.org/officeDocument/2006/relationships/notesSlide" Target="/ppt/notesSlides/notesSlide14.xml" Id="Rc5d1c81c6a9348a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5313512edd4533" /><Relationship Type="http://schemas.openxmlformats.org/officeDocument/2006/relationships/notesSlide" Target="/ppt/notesSlides/notesSlide15.xml" Id="R8aa2d3202e18458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66b0ee4dd7453d" /><Relationship Type="http://schemas.openxmlformats.org/officeDocument/2006/relationships/notesSlide" Target="/ppt/notesSlides/notesSlide16.xml" Id="R6b963e87095c498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5c234e4130493c" /><Relationship Type="http://schemas.openxmlformats.org/officeDocument/2006/relationships/notesSlide" Target="/ppt/notesSlides/notesSlide17.xml" Id="Rf1478d1d1833462b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varyColors val="0"/>
        <c:ser>
          <c:idx val="0"/>
          <c:order val="0"/>
          <c:tx>
            <c:v>样本数</c:v>
          </c:tx>
          <c:spPr>
            <a:solidFill xmlns:a="http://schemas.openxmlformats.org/drawingml/2006/main">
              <a:srgbClr val="2563EB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6"/>
              <c:pt idx="0">
                <c:v>1</c:v>
              </c:pt>
              <c:pt idx="1">
                <c:v>2A</c:v>
              </c:pt>
              <c:pt idx="2">
                <c:v>2B</c:v>
              </c:pt>
              <c:pt idx="3">
                <c:v>2M</c:v>
              </c:pt>
              <c:pt idx="4">
                <c:v>2N</c:v>
              </c:pt>
              <c:pt idx="5">
                <c:v>3*</c:v>
              </c:pt>
            </c:strLit>
          </c:cat>
          <c:val>
            <c:numLit>
              <c:formatCode>General</c:formatCode>
              <c:ptCount val="6"/>
              <c:pt idx="0">
                <c:v>115</c:v>
              </c:pt>
              <c:pt idx="1">
                <c:v>118</c:v>
              </c:pt>
              <c:pt idx="2">
                <c:v>38</c:v>
              </c:pt>
              <c:pt idx="3">
                <c:v>53</c:v>
              </c:pt>
              <c:pt idx="4">
                <c:v>16</c:v>
              </c:pt>
              <c:pt idx="5">
                <c:v>44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DE3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varyColors val="0"/>
        <c:ser>
          <c:idx val="0"/>
          <c:order val="0"/>
          <c:tx>
            <c:v>Recall</c:v>
          </c:tx>
          <c:spPr>
            <a:solidFill xmlns:a="http://schemas.openxmlformats.org/drawingml/2006/main">
              <a:srgbClr val="FF6B35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2A</c:v>
              </c:pt>
              <c:pt idx="1">
                <c:v>2B</c:v>
              </c:pt>
              <c:pt idx="2">
                <c:v>2M</c:v>
              </c:pt>
              <c:pt idx="3">
                <c:v>2N</c:v>
              </c:pt>
            </c:strLit>
          </c:cat>
          <c:val>
            <c:numLit>
              <c:formatCode>General</c:formatCode>
              <c:ptCount val="4"/>
              <c:pt idx="0">
                <c:v>59.3</c:v>
              </c:pt>
              <c:pt idx="1">
                <c:v>39.5</c:v>
              </c:pt>
              <c:pt idx="2">
                <c:v>47.2</c:v>
              </c:pt>
              <c:pt idx="3">
                <c:v>75</c:v>
              </c:pt>
            </c:numLit>
          </c:val>
        </c:ser>
        <c:ser>
          <c:idx val="1"/>
          <c:order val="1"/>
          <c:tx>
            <c:v>Precision</c:v>
          </c:tx>
          <c:spPr>
            <a:solidFill xmlns:a="http://schemas.openxmlformats.org/drawingml/2006/main">
              <a:srgbClr val="2563EB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2A</c:v>
              </c:pt>
              <c:pt idx="1">
                <c:v>2B</c:v>
              </c:pt>
              <c:pt idx="2">
                <c:v>2M</c:v>
              </c:pt>
              <c:pt idx="3">
                <c:v>2N</c:v>
              </c:pt>
            </c:strLit>
          </c:cat>
          <c:val>
            <c:numLit>
              <c:formatCode>General</c:formatCode>
              <c:ptCount val="4"/>
              <c:pt idx="0">
                <c:v>93.3</c:v>
              </c:pt>
              <c:pt idx="1">
                <c:v>88.2</c:v>
              </c:pt>
              <c:pt idx="2">
                <c:v>89.3</c:v>
              </c:pt>
              <c:pt idx="3">
                <c:v>30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1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DE3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69EF73-FA77-4175-AB5E-4C3611A3D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8191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以机制驱动的 VWD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702B62-0337-4378-8394-D277150D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962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智能体辅助分型/诊断系统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021D78-28F6-4574-95C2-576B03D44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336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55555"/>
                </a:solidFill>
              </a:defRPr>
            </a:pPr>
            <a:r>
              <a:rPr sz="1725" b="0">
                <a:solidFill>
                  <a:srgbClr val="555555"/>
                </a:solidFill>
              </a:rPr>
              <a:t>研究原型 · 面向 VWF 变异的可解释 subtype 证据融合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1C8FE7-2CDE-4D99-8ECC-C7D24C39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FF3098-9DBF-4AC2-91AD-0DE9E692B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910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563EB"/>
                </a:solidFill>
              </a:defRPr>
            </a:pPr>
            <a:r>
              <a:rPr sz="3150" b="1">
                <a:solidFill>
                  <a:srgbClr val="2563EB"/>
                </a:solidFill>
              </a:rPr>
              <a:t>340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45BF49-C45B-4B82-9F0A-DF350748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434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最新实际 Eval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E8274D-B983-4CE4-9DA5-5BD62924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101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Type 1 + Type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9E8DF5-3110-490E-865D-33D0DC44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910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225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15C1C0-6898-4AB9-B65C-6CB26369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7434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Type 2 样本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200F0C-BCE1-468D-A01B-E90EB0E95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0101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2A/2B/2M/2N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68B442-AD66-4D66-A6D0-B69F2533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19100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6B35"/>
                </a:solidFill>
              </a:defRPr>
            </a:pPr>
            <a:r>
              <a:rPr sz="3150" b="1">
                <a:solidFill>
                  <a:srgbClr val="FF6B35"/>
                </a:solidFill>
              </a:rPr>
              <a:t>54.2%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1A2277-C77E-4686-BB27-90BEB7D8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7434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Type 2 recall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795589-C97D-4C97-B145-2EEED395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0101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mechanism evidence only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051748-9097-4445-8FDA-0B2D22E7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91000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68A5A"/>
                </a:solidFill>
              </a:defRPr>
            </a:pPr>
            <a:r>
              <a:rPr sz="3150" b="1">
                <a:solidFill>
                  <a:srgbClr val="168A5A"/>
                </a:solidFill>
              </a:rPr>
              <a:t>机制补全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EB6FAE-A61F-48C9-9A39-3D51B8CC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434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下一阶段目标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DDE561-A945-4859-AB52-AC0119FE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101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Type 1/3 + 2M/2A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E40A36-62A9-4BED-A05C-CC967363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Mechanism-driven VWD agentic decision-support system; diagnosis remains clinician-confirmed.</a:t>
            </a:r>
          </a:p>
        </p:txBody>
      </p:sp>
    </p:spTree>
    <p:extLst>
      <p:ext uri="{BB962C8B-B14F-4D97-AF65-F5344CB8AC3E}">
        <p14:creationId xmlns:p14="http://schemas.microsoft.com/office/powerpoint/2010/main" val="11446412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A8E90C-5C69-4AAF-9EB9-AFD764E9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为什么叫“机制驱动”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A9FD34-9263-429C-9450-D0742C31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VWD 的临床 subtype 本身就是病理机制标签；系统目标不是黑箱分类，而是把证据按机制归位。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AF5D9E-634D-40E3-A86E-C4A3B34F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5D5769-0EC3-4C46-8834-8E306BE2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D07A31-7888-436B-85C4-3C708E0D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分型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2C23FB-0D60-4B11-90AC-6BB7AF2F7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7145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临床/病理定义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C37CF2-B8AF-4115-B4E5-D3D89FF5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714500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对应机制轴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109936-0C8A-4D0A-AE23-A76519C1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6215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36B61A-CE1E-4A9E-8332-17B575F2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4787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Type 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A7DBB4-718C-4725-9C65-16A5C7943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47875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部分定量缺乏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A18ABD-6077-49D6-9670-0EB656318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047875"/>
            <a:ext cx="3276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VWF 水平/分泌/清除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B956A7-64A9-4E90-8660-4BD68321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7650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DA78C1-11C6-4BB3-99ED-4BDA9A4F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6222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Type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CF2B78-C2A4-4027-B6DD-2796EEBB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562225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几乎完全缺乏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CDB32B-A568-4835-9DC7-CECD101A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562225"/>
            <a:ext cx="3276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null / biallelic / severe deficiency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DF4D07-F94B-47A3-9016-7526AF7B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9085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A72824-6ABC-47AC-8424-F13C9648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7657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2A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369CF8-A290-4192-8A19-EC8C0880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76575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高分子多聚体减少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7335C5-0990-4407-B4DA-9E8A78A1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076575"/>
            <a:ext cx="3276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A2 稳定性、ADAMTS13、多聚化/分泌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F2A95F-DF3D-48B7-A57B-46AB27813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0520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410C06-2726-49FF-BBB7-670C29E95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9092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2B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E384CF-51B9-4BB6-9A06-416E9728B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90925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A1-GPIb gain-of-function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0B4ADC-4B7B-46CE-B16E-B0173BD2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590925"/>
            <a:ext cx="3276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AIM 自抑制松开且结合面保留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A629C5-53FD-4FDE-B26E-EB401933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FF13BA-C4D2-4C3A-9E96-C55B8FE0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0527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2M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06F155-7A60-46DD-B74C-030650C0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05275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功能下降但多聚体保留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C3B23B-2961-4825-85C0-871AACDB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105275"/>
            <a:ext cx="3276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A1-GPIb LOF 或胶原结合 LOF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46BAAC-9856-412C-92CB-42BD4874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A44872-3DD7-4441-B26D-91E53639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1962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2N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74E16D-4CCC-4E5B-A3BC-FEF76E66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19625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FVIII 结合下降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F3D063-ADFB-4FC1-AD32-FB3EE27E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619625"/>
            <a:ext cx="3276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D'/D3-FVIII binding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E02212-DFCC-486C-BF6F-333A029F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90700"/>
            <a:ext cx="31432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FFD3C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C3D68FD-18F8-4A11-8B8E-A189CD22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76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6B35"/>
                </a:solidFill>
              </a:defRPr>
            </a:pPr>
            <a:r>
              <a:rPr sz="1875" b="1">
                <a:solidFill>
                  <a:srgbClr val="FF6B35"/>
                </a:solidFill>
              </a:rPr>
              <a:t>核心优点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000485-9868-4E81-840B-9A2E1570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09850"/>
            <a:ext cx="2476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• 知道缺什么：每个 subtype 可追溯到具体功能轴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• 知道错在哪：错误 case 能落到机制冲突或证据缺失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• 知道怎么补：Boltz/AF3/MD/SMD 分别服务不同机制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• 避免只看总 accuracy 的假安全感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C5D74D5-47FE-4CA9-B1D5-5D37A798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Source basis: ASH/ISTH/NHF/WFH diagnosis guideline; Haematologica 2026 classification review.</a:t>
            </a:r>
          </a:p>
        </p:txBody>
      </p:sp>
    </p:spTree>
    <p:extLst>
      <p:ext uri="{BB962C8B-B14F-4D97-AF65-F5344CB8AC3E}">
        <p14:creationId xmlns:p14="http://schemas.microsoft.com/office/powerpoint/2010/main" val="7046526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60E3CE-4156-40DD-8F4D-2C71D34DD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最新 Eval 直接结果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485752-77C0-443D-9CD1-1BE551F3A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不混历史数据：这里仅展示当前 pipeline 实际进入评估的 clean supported labels。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AECC43-E0F0-4311-AFC6-B2D7F757B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FDA464-0B56-4AAD-A1EC-18BFDCEF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485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604AEC-BE71-44B1-BE0C-100F5B9C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7640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真实标签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9FE01E-13FF-4D7D-BA54-3FDD0E91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7640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2D56A1-DA85-4860-B4D4-BA526E60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676400"/>
            <a:ext cx="2609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当前状态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E38B2E-5E54-4AA7-BC4C-66D77720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485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84776D-1FF9-4C1C-9EB0-2FFB60AA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9775"/>
            <a:ext cx="1085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7F5178-D681-4988-BE40-B825B009D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009775"/>
            <a:ext cx="70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DC04D7-F237-4651-9238-11511ACD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09775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进入 Eval；但 Type 1 规则尚不完整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69FD46-F3EA-4740-A3CA-1B13AF64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38400"/>
            <a:ext cx="485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42E456-4F04-46C9-9C49-06129973F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4125"/>
            <a:ext cx="1085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2A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321A4C-B516-494C-92AB-4B3B7E324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524125"/>
            <a:ext cx="70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118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DE3689-D2EA-4558-B68D-E500F238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24125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进入 Eval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40D925-C241-4A1A-9294-8F7BA069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485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F71E04-2DEF-4107-8D1C-11F1E361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38475"/>
            <a:ext cx="1085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2B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4CC02A-09B1-4BC6-8060-388429D3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038475"/>
            <a:ext cx="70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38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2486F6-9C66-4C65-8034-9B2D9D99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038475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进入 Eval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543A0A-0045-47BD-8AAA-820C0CD9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67100"/>
            <a:ext cx="485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E7BE93-BEFD-424D-A931-601622B97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52825"/>
            <a:ext cx="1085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2M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CA1CB9-0A3C-46E1-9E08-86C4E19F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552825"/>
            <a:ext cx="70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53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5D095D-AAAC-4340-BAC9-7E64EE953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52825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进入 Eval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FB458F-E442-4A42-A6FD-BFB92390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485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1B5D46-C80A-479E-8700-C8E09DED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67175"/>
            <a:ext cx="1085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2N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209F0E-1627-40B6-AF0E-EC2D1E593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067175"/>
            <a:ext cx="70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16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7C2291-C031-459C-9576-3A5187155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67175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进入 Eval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6E42A1-EAEC-471D-B78F-739545469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95800"/>
            <a:ext cx="485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0B4F58-6049-494B-8C1B-2ACB666B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81525"/>
            <a:ext cx="1085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858AEA-EB13-4DFB-8AA2-06BD97DFD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581525"/>
            <a:ext cx="70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44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8951A8-3717-4C9A-A226-00BF501D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581525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干净库存存在；当前分类器未纳入</a:t>
            </a:r>
          </a:p>
        </p:txBody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6096000" y="1600200"/>
          <a:ext xmlns:a="http://schemas.openxmlformats.org/drawingml/2006/main" cx="51435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fff17d37bb4758"/>
          </a:graphicData>
        </a:graphic>
      </p:graphicFrame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DC9455-36C6-420D-BD15-259E7735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9530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* Type 3 尚未进入本轮 recall/precision 计算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386DD8-1369-458B-998D-866CCED47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Repo artifact: output/type2m_lof_md_fast_validation_2026-06-29/eval_with_fast_md/eval_v2_summary.csv</a:t>
            </a:r>
          </a:p>
        </p:txBody>
      </p:sp>
    </p:spTree>
    <p:extLst>
      <p:ext uri="{BB962C8B-B14F-4D97-AF65-F5344CB8AC3E}">
        <p14:creationId xmlns:p14="http://schemas.microsoft.com/office/powerpoint/2010/main" val="11033257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AF96AD-0415-4D33-8140-12B9B001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Type 2: 机制证据版更干净但更保守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FE3E85-AC12-4407-8E6E-911E2726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with MD 后，2M recall 上升；2B recall 暴露出真正需要动态 GOF 证据的缺口。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D0A670-1E13-4539-8EC7-40E3A459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66750" y="1524000"/>
          <a:ext xmlns:a="http://schemas.openxmlformats.org/drawingml/2006/main" cx="4953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0a05b1dccf94de5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915EC5-A155-4B9F-BFF7-455C79D0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6B35"/>
                </a:solidFill>
              </a:defRPr>
            </a:pPr>
            <a:r>
              <a:rPr sz="3150" b="1">
                <a:solidFill>
                  <a:srgbClr val="FF6B35"/>
                </a:solidFill>
              </a:rPr>
              <a:t>122/225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B0E2D6-D8CD-49CF-A537-484881823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2882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Type 2 overall recall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4DB48D-CFDF-4797-9696-78D96A02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9552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54.2%, uncertain=65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E26214-0029-4843-87A6-FC05D3D0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476375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68A5A"/>
                </a:solidFill>
              </a:defRPr>
            </a:pPr>
            <a:r>
              <a:rPr sz="3150" b="1">
                <a:solidFill>
                  <a:srgbClr val="168A5A"/>
                </a:solidFill>
              </a:rPr>
              <a:t>89.3%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A9BF95-6690-477C-821A-592766CE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2882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2M precision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8E7488-1D68-4218-B3D4-33C95BD4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95525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判出来仍较干净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106B15-1127-4024-A4A8-4A56E528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19450"/>
            <a:ext cx="4667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29F97C-2CDF-4D6F-9ADF-ED44D34F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476625"/>
            <a:ext cx="4191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• 2B: recall 偏低 = 仍缺少直接动态 GOF 证据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• 2M: recall 小幅上升 = MD LOF 证据开始产生收益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• 2N: recall 还行，但 precision 低 = 很多 2A 被吸到 2N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• 当前版本降低循环证据和标签记忆风险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248EDA-90DE-4FC5-90C0-85341CCE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Precision from current Type 2 confusion matrix: predicted-class purity; recall from true-label recovery.</a:t>
            </a:r>
          </a:p>
        </p:txBody>
      </p:sp>
    </p:spTree>
    <p:extLst>
      <p:ext uri="{BB962C8B-B14F-4D97-AF65-F5344CB8AC3E}">
        <p14:creationId xmlns:p14="http://schemas.microsoft.com/office/powerpoint/2010/main" val="1642925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9892BF-7CAB-483D-B610-371B108DC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错误结构：哪里漏、哪里误伤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D2296A-A1A1-4C5E-B663-F140985E3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这页用于解释为什么报告 recall/precision，而不是只给一个总体准确率。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17B4FF-6FD9-4740-8DA4-F1FEF920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B0E183-C26B-40CC-AF16-071058A7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97C9C5-2114-4BCF-ABC6-EFAA0847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181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true \ pred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25AE78-7480-495D-86EF-18E33001D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169545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567354-7329-452A-A341-2228741D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9545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FACA58-A041-403A-A56E-C424CF8C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69545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066244-4A4D-436D-B595-618EFCA7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69545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851197-D8DB-4246-8470-F67CC0286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695450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uncertain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5C8A19-8DAA-4AF2-B978-F45590A69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590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03A47E-070F-4CE7-8AA9-D34CA627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28825"/>
            <a:ext cx="1181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2A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384829-B6B3-45B0-8E4B-EE5872AE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0288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A5A"/>
                </a:solidFill>
              </a:defRPr>
            </a:pPr>
            <a:r>
              <a:rPr sz="1350" b="1">
                <a:solidFill>
                  <a:srgbClr val="168A5A"/>
                </a:solidFill>
              </a:rPr>
              <a:t>70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456252-4B61-4272-9CCA-7232CD65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288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30DEC-08CB-4243-8B77-E64996BA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0288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6A9251-C153-423F-B716-95A04521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288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2410C"/>
                </a:solidFill>
              </a:defRPr>
            </a:pPr>
            <a:r>
              <a:rPr sz="1350" b="0">
                <a:solidFill>
                  <a:srgbClr val="C2410C"/>
                </a:solidFill>
              </a:rPr>
              <a:t>28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5269DA-4C02-4F52-999A-61AA74AD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028825"/>
            <a:ext cx="990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18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48D53D-4BC7-46B9-850E-4173E127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00300"/>
            <a:ext cx="590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1FAD84-0150-49FB-918A-C1F4B0E7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1181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2B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F38AA5-4DC1-44F9-AF72-48341EAC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4860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055876-49C3-4741-A3F8-19150CF7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4860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A5A"/>
                </a:solidFill>
              </a:defRPr>
            </a:pPr>
            <a:r>
              <a:rPr sz="1350" b="1">
                <a:solidFill>
                  <a:srgbClr val="168A5A"/>
                </a:solidFill>
              </a:rPr>
              <a:t>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C9F610-0667-460C-B487-ABD7F4C77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860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F78625-8AD4-435C-88E7-B0070785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860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219BA3-951F-4933-B52A-42DD679D2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486025"/>
            <a:ext cx="990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19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8E3205-F63F-4D3C-BCBB-103C3F21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590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2D41C2-066E-4597-8E04-DBAA6E404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1181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2M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EDE30B-AD4E-45FF-9D83-62404CC2D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9432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720AFD-4CA8-4FDB-BF0F-7B03CB195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432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212C50-92D1-4144-80A6-3F57020D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432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A5A"/>
                </a:solidFill>
              </a:defRPr>
            </a:pPr>
            <a:r>
              <a:rPr sz="1350" b="1">
                <a:solidFill>
                  <a:srgbClr val="168A5A"/>
                </a:solidFill>
              </a:rPr>
              <a:t>25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8EF3BC-7C42-4FB0-93D6-1DCD91BB1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432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53FE86-1E2B-486E-BD77-8C39648A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943225"/>
            <a:ext cx="990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2410C"/>
                </a:solidFill>
              </a:defRPr>
            </a:pPr>
            <a:r>
              <a:rPr sz="1350" b="0">
                <a:solidFill>
                  <a:srgbClr val="C2410C"/>
                </a:solidFill>
              </a:rPr>
              <a:t>28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5A9959-B495-4926-956E-91C4E1286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14700"/>
            <a:ext cx="590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2D9AE2B-DC1D-4794-8A65-01CB6900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1181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2N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3F7E94-C9D2-48B7-BB39-B9350520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4004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9AC92C-86EF-45CE-8736-104AACD8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004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45C22BA-607D-4B23-8D6D-665A5EE63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004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D7A55D9-4E60-4774-B967-AD61B18B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4004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A5A"/>
                </a:solidFill>
              </a:defRPr>
            </a:pPr>
            <a:r>
              <a:rPr sz="1350" b="1">
                <a:solidFill>
                  <a:srgbClr val="168A5A"/>
                </a:solidFill>
              </a:rPr>
              <a:t>12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E9BB70E-AA03-4E0B-8F92-DBBD5772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400425"/>
            <a:ext cx="990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2920FAE-D71B-4E0E-9A71-491980AC8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002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三个直接结论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FB1584-189B-4920-AA65-289047090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14550"/>
            <a:ext cx="3905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• 2M 最大问题仍是漏：28/53 仍 uncertain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• 2B 最大问题变成保守：19/38 uncertain，3/38 被误判 2M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• 2A 最大问题是被 2N 规则吸走：28 例 2A→2N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31D488-F738-4FDF-BE7F-18D39F2D7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905250"/>
            <a:ext cx="3714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FFD3C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34832C3-655E-49FF-91BA-2172156CD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148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评估边界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3813132-E04D-4206-8CBB-4460252E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386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当前模型应定位为 Type 2 机制分型原型；Type 1/3 补齐前不报告全分型 global accuracy。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15B1727-70D6-4C7B-A35C-89B8D0EC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Repo artifact: eval_v2_type2_confusion_with_md.csv</a:t>
            </a:r>
          </a:p>
        </p:txBody>
      </p:sp>
    </p:spTree>
    <p:extLst>
      <p:ext uri="{BB962C8B-B14F-4D97-AF65-F5344CB8AC3E}">
        <p14:creationId xmlns:p14="http://schemas.microsoft.com/office/powerpoint/2010/main" val="11560550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F306B1-10AE-4EEE-A55A-0AFCF9FC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Case 正例：L1276P 从 uncertain 被 MD 救回 2M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491818-BB51-44BC-AE1D-EA8FD74EB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这页把每个指标、计算方式和 MD 补足的盲区讲清楚。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A7DB05-5E69-4566-89D4-FBDAEF04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0753D-DA8E-4E20-8556-E10F5F7A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1714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00A477-7577-4F3B-855B-AC911ABE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38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E84F04-F8E8-4F8C-8DFE-1DD45D482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504950"/>
            <a:ext cx="1714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FBAD36-CA91-4A38-8944-65D180A0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638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Boltz 静态结构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F15B60-7442-47BB-A68E-13586AE2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504950"/>
            <a:ext cx="1714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9D3730-DC27-4E5D-A8F1-A68F1D96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638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规则融合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B7C170-4FA7-4F87-A576-93E923747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504950"/>
            <a:ext cx="1714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FFD3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FAF8C6-FB54-4458-9319-B5533FB7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638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6B35"/>
                </a:solidFill>
              </a:defRPr>
            </a:pPr>
            <a:r>
              <a:rPr sz="1275" b="1">
                <a:solidFill>
                  <a:srgbClr val="FF6B35"/>
                </a:solidFill>
              </a:rPr>
              <a:t>Equilibrium MD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3E7CCB-7EC7-43A4-AA9A-791F54BE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504950"/>
            <a:ext cx="1714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29C143-55C6-4630-8270-6AA04D14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638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输出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3D8AF9-C692-4978-8853-0A50E718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009775"/>
            <a:ext cx="4000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9CED85-059E-46FB-9F80-47106F53C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09775"/>
            <a:ext cx="4000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3BC8A2-A11A-423C-AD91-E11263575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09775"/>
            <a:ext cx="4000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0E70B2-BBF3-48C1-A7B4-5B7E8A55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009775"/>
            <a:ext cx="4000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837A4C-577F-4DAF-954E-CF7402C8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859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aa_change=L1276P</a:t>
            </a:r>
          </a:p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A1 domain, pos=1276</a:t>
            </a:r>
          </a:p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mechanism features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3C19FA-E6FF-42C2-8437-E11AEC3D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8859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fb z=+0.25</a:t>
            </a:r>
          </a:p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heparan z=+1.16</a:t>
            </a:r>
          </a:p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aim static=-0.50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21CDB2-EC66-4966-B988-1CC7A31CD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8859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no MD:</a:t>
            </a:r>
          </a:p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A1 方向证据弱</a:t>
            </a:r>
          </a:p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→ uncertain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EFB0AF-028C-4405-B22E-57C2BAD9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809750"/>
            <a:ext cx="1466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AIM-A1 contacts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0-5ns: 146.8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40-50ns: 112.8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loss=34.0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AF387E-C535-4128-9C58-49A0D4E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8859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68A5A"/>
                </a:solidFill>
              </a:defRPr>
            </a:pPr>
            <a:r>
              <a:rPr sz="975" b="0">
                <a:solidFill>
                  <a:srgbClr val="168A5A"/>
                </a:solidFill>
              </a:rPr>
              <a:t>pred=2M</a:t>
            </a:r>
          </a:p>
          <a:p xmlns:a="http://schemas.openxmlformats.org/drawingml/2006/main">
            <a:pPr algn="l">
              <a:defRPr sz="975" b="0">
                <a:solidFill>
                  <a:srgbClr val="168A5A"/>
                </a:solidFill>
              </a:defRPr>
            </a:pPr>
            <a:r>
              <a:rPr sz="975" b="0">
                <a:solidFill>
                  <a:srgbClr val="168A5A"/>
                </a:solidFill>
              </a:rPr>
              <a:t>conf=0.55</a:t>
            </a:r>
          </a:p>
          <a:p xmlns:a="http://schemas.openxmlformats.org/drawingml/2006/main">
            <a:pPr algn="l">
              <a:defRPr sz="975" b="0">
                <a:solidFill>
                  <a:srgbClr val="168A5A"/>
                </a:solidFill>
              </a:defRPr>
            </a:pPr>
            <a:r>
              <a:rPr sz="975" b="0">
                <a:solidFill>
                  <a:srgbClr val="168A5A"/>
                </a:solidFill>
              </a:rPr>
              <a:t>MD LOF 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97642C-40F1-4B48-BA9A-9A1916AE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1057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96647E-4461-488F-92A6-D007DEA2F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4325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指标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436ABB-F06A-4E59-A495-4CF4D957A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43250"/>
            <a:ext cx="441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怎么算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934352-E46C-41C9-972F-787DAE00D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43250"/>
            <a:ext cx="403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本 case 含义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9E347F-04BB-4370-AD7D-7B85EA0C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90900"/>
            <a:ext cx="10572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390CD8-AD72-4F33-9245-C1DFB1E0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76625"/>
            <a:ext cx="1657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fb_binding_zscore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9B8EC3-7BB9-4347-920A-9D9F5EF5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476625"/>
            <a:ext cx="441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Boltz A1+GPIb complex primary score 的变体-同轴分布 z-score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53DC0B-BCE9-45C5-9AE4-47D214B6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476625"/>
            <a:ext cx="4038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+0.25：不支持明显 GPIb 结合丢失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6AB982-2D95-4AAA-867A-2B12105C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00475"/>
            <a:ext cx="10572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6C3F56-F4DC-4835-9B7A-B4D10BC25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86200"/>
            <a:ext cx="1657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heparan_zscore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856C29-534D-49B3-953E-4D569ECD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86200"/>
            <a:ext cx="441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Boltz A1+heparan model 同法转 z-score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41A5AC-1522-4A99-81B7-B080D148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86200"/>
            <a:ext cx="4038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+1.16：静态表面轴不支持 LOF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229D28-BDDC-4E9E-97BF-B6F37E29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0050"/>
            <a:ext cx="10572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03C9744-FEA3-41C6-A18F-644B4D60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95775"/>
            <a:ext cx="1657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label guard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19A3CD-1BBF-4AF0-949F-7C8F65B58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295775"/>
            <a:ext cx="441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分类时不读取 true subtype；只读取机制特征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FF02EBA-61AF-4C88-992E-26ECA8B5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295775"/>
            <a:ext cx="4038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避免标签记忆/循环证据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AA0A5AB-CFE3-495C-8F13-BC43A5EF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19625"/>
            <a:ext cx="10572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9702016-EDD5-49D0-A324-733635CF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05350"/>
            <a:ext cx="1657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md_face_destab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3126188-58C3-487E-8B57-F1F3B1F1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705350"/>
            <a:ext cx="441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(0-5ns contacts − 40-50ns contacts) / 20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DB23A5E-C340-4E8F-AA67-478A171F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705350"/>
            <a:ext cx="4038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1.701：tail 接触显著下降，支持 2M LOF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9D66130-786D-42F2-94F8-E1D27908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5780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MD 补的盲区：Boltz 给的是静态复合体置信/结合 proxy，不能看到 closed-state A1 结合面在水环境中是否随时间塌陷；equilibrium MD 用 tail window 观察接触网络保留，给出动态稳定性证据。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793B170-7206-4AB1-BDD7-F8332587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Classification uses mechanism features only; subtype labels are used only after prediction for Eval. Sources: ASH/ISTH/NHF/WFH 2021; PDB 7A6O/Nat Commun 2021.</a:t>
            </a:r>
          </a:p>
        </p:txBody>
      </p:sp>
    </p:spTree>
    <p:extLst>
      <p:ext uri="{BB962C8B-B14F-4D97-AF65-F5344CB8AC3E}">
        <p14:creationId xmlns:p14="http://schemas.microsoft.com/office/powerpoint/2010/main" val="16748386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36B349-D882-4D83-BD06-F8B11432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Case 负例：V1316M 显示 equilibrium MD 的歧义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96AC5C-B4E7-4228-AAC6-2C902E64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当前只靠 equilibrium MD LOF 轴，仍会误伤部分真实 2B。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2F4C2A-3DF5-49BA-A0DA-C85E38F9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0D9083-68DB-44A6-B26B-9B21DF44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B81519-288F-48BF-BA8E-B6C2C2F8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1181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字段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BFAF13-AAFE-4C45-B178-20C7BE59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600200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1927A2-64DA-438D-892D-0CD093264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600200"/>
            <a:ext cx="403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解释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F24AAE-F6D0-47E3-941E-1D4B0CA50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7524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ACB658-7D84-4A30-A54F-11B6BA03C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33575"/>
            <a:ext cx="118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输入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2702A2-23BA-4CF9-88D2-64F08C56F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933575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V1316M, A1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07214-870E-4A6B-AED5-A2D03025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933575"/>
            <a:ext cx="403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true label = 2B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948C18-3DDF-400D-8E66-43E60A79B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7524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8E8971-513B-4BF3-91E9-9099266D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8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分类防护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8C3576-55D5-45F1-806A-6D34BEA6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428875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分类时不读取 true subtype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9863FF-E688-4097-9903-BE91177C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428875"/>
            <a:ext cx="403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只由机制特征触发 subtype 输出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8DA123-52B7-4A64-862E-31C227AC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7524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EC3386-4C2F-41C0-9FE2-5DF21320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24175"/>
            <a:ext cx="118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Boltz 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6AD394-7F08-4BD3-AA43-7A02A82AA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924175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fb=-0.92, hep=-0.05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826BF0-5FA0-430E-9808-BF6DBB12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924175"/>
            <a:ext cx="403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未达到联合 LOF 阈值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BBE14B-5CD8-4690-B8A7-F7FDCB15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7524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60F40C-F8B3-4535-B62A-576A0B0B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19475"/>
            <a:ext cx="118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MD 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BE9BB8-4401-45DF-A2AA-03B828D5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419475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destab=1.158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D69A68-C0ED-43F2-A6BF-810957B4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419475"/>
            <a:ext cx="403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tail 接触下降，触发 2M soft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14C135-6CB4-438F-85C1-8666C905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7524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F03592-D9F2-4A9B-8D16-7C15ABD1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14775"/>
            <a:ext cx="118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当前输出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C9AF2A-D3D6-49B8-A597-4CAEC766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914775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2M, conf=0.55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A72E6F-1354-4C41-90F7-8465EEEB8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914775"/>
            <a:ext cx="403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说明 equilibrium MD face-destab 不是纯 2M 特异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775D01-145A-498F-9BCC-3F44EDCD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19250"/>
            <a:ext cx="2286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0"/>
          </a:solidFill>
          <a:ln xmlns:a="http://schemas.openxmlformats.org/drawingml/2006/main" w="9525">
            <a:solidFill>
              <a:srgbClr val="FECAC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BB51BC-DB73-4C65-B9CF-7D37CCA2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924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2410C"/>
                </a:solidFill>
              </a:defRPr>
            </a:pPr>
            <a:r>
              <a:rPr sz="1800" b="1">
                <a:solidFill>
                  <a:srgbClr val="C2410C"/>
                </a:solidFill>
              </a:rPr>
              <a:t>错误归因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A905A1-9955-4428-885D-9A51048F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57450"/>
            <a:ext cx="1619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• 平衡 MD 看不到受力 GOF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• contact loss 也可能是 2B release-like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• 需要 SMD/force-release 轴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• 2M soft evidence 需加保护条件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000C03-F8AC-49CC-A470-5EE6458E8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优化方向：A1 判断需要 2B_score 与 2M_score 证据竞争。2B_score 应来自 force-release/SMD、GPIb retained/increased 或独立 GOF 证据。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D58B57-99FA-4229-829E-729C4C97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Current Eval: V1316M is true 2B → predicted 2M, exposing the need for a directional GOF dynamics axis.</a:t>
            </a:r>
          </a:p>
        </p:txBody>
      </p:sp>
    </p:spTree>
    <p:extLst>
      <p:ext uri="{BB962C8B-B14F-4D97-AF65-F5344CB8AC3E}">
        <p14:creationId xmlns:p14="http://schemas.microsoft.com/office/powerpoint/2010/main" val="20740699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78406B-4D01-4A04-9E6B-B5690279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系统实现：三层证据进入可解释智能体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F2CDB1-F38C-4B1F-9634-60A6735E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分类器不看 subtype 标签；标签只在预测后用于 Eval。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BE13FC-3118-4C7C-BC2C-B5215C02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DD3D4-341E-42A0-AC62-E80BD8C6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21593F-A076-4B2D-BEE6-C70867BB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860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682941-51D4-4E9A-A80F-08FF7F07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28900"/>
            <a:ext cx="1352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aa_change: L1276P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pos=1276, domain=A1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ref/alt amino acid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97A27D-3473-44F8-908D-2658ADC87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714625"/>
            <a:ext cx="533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2AA086-FF1B-40C0-BE2F-76EF70D53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9550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48AD45-E71C-477D-989B-9A63D697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2860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特征层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8483D0-1FAF-42B3-99E0-B1D55006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52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AG: RNA/splice delta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Boltz: A1-GPIb, heparan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MD: contact tail features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63407E-C476-4EEB-AD26-28CF2E21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14625"/>
            <a:ext cx="533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B456FA-40FA-4470-9556-F8F2A4EE7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9550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9525">
            <a:solidFill>
              <a:srgbClr val="C7D7F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3A2452-9ED3-4785-9CB1-9B5F10CC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2860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专家层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2DD9CA-0A70-4E2C-9D37-0A4C2A20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628900"/>
            <a:ext cx="1352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Structural Expert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Transcriptomic Expert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Clinical Geneticist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96AD16-2954-415E-84DA-2329CB9F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14625"/>
            <a:ext cx="533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AA590A-6DFC-4674-9D52-AC66AB1D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E88391-0D16-4CBF-90CE-7E3A20DE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2860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融合层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F128E8-0249-43EC-966E-2887836A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628900"/>
            <a:ext cx="1352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interpretable rules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2B/2M directionality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uncertain allowed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504E70-6BFD-4234-BEA0-87AE3B3C9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14625"/>
            <a:ext cx="533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A4F601-DE69-471E-870B-1BFD3387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9550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D6B7B3-5C54-4ACA-B8DA-777BE0FC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860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输出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167BC8-E846-4168-9515-ABDEAA93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628900"/>
            <a:ext cx="1352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subtype: 2M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confidence: 0.55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reasoning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CCA603-C826-4F7B-AF67-2082492E8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05300"/>
            <a:ext cx="9525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FF8"/>
          </a:solidFill>
          <a:ln xmlns:a="http://schemas.openxmlformats.org/drawingml/2006/main" w="9525">
            <a:solidFill>
              <a:srgbClr val="BBE7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3A3906-8ACC-462D-BD29-B7D02B511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529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8A5A"/>
                </a:solidFill>
              </a:defRPr>
            </a:pPr>
            <a:r>
              <a:rPr sz="1725" b="1">
                <a:solidFill>
                  <a:srgbClr val="168A5A"/>
                </a:solidFill>
              </a:rPr>
              <a:t>无标签泄漏核实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6E5B7D-5C74-4C5F-BB87-A3750E7C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514850"/>
            <a:ext cx="638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evaluate_vwf_classifier_v2.py 把 true_label/type2_subtype 改成 LEAK_TEST 后，pred_with_md 完全不变；label_leak_test_pass=1。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324B23-F9C8-4277-AD92-B34078A85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Code refs: scripts/agentic_vwf_classifier.py; scripts/pipeline/evaluate_vwf_classifier_v2.py.</a:t>
            </a:r>
          </a:p>
        </p:txBody>
      </p:sp>
    </p:spTree>
    <p:extLst>
      <p:ext uri="{BB962C8B-B14F-4D97-AF65-F5344CB8AC3E}">
        <p14:creationId xmlns:p14="http://schemas.microsoft.com/office/powerpoint/2010/main" val="684324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CB8582-35D6-4618-88F1-833F74DA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分类器阈值怎么设定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5DC142-13C0-4D74-ABA4-37BC0A856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当前不是黑箱训练模型；阈值来自分布自适应、校准集和机制保护三类来源。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A4683C-162E-4488-9DE9-94FB4D2FC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D5BFB2-A6A5-426C-B708-6C9709A27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7800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7ACC50-E7DD-4CD1-AFAD-1FAEA011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阈值层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44DF32-7E50-4A23-A35C-717FC8779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432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当前实现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1FB2E7-FAE7-45AE-8DAE-34C443EF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24000"/>
            <a:ext cx="4610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设定依据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4DAE4D-DB44-4146-BF5D-27DD66FB8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71650"/>
            <a:ext cx="11049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A34CBB-AAC0-4F6E-8D16-CDC14B78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57375"/>
            <a:ext cx="1657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AG RNA / splice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A858C8-2F26-48B4-9568-F1320CFD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57375"/>
            <a:ext cx="432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RNA 低阈值=本批 25th percentile；splice 高阈值=75th percentile；score&gt;0.7 才触发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6D0CEF-E73B-4FE5-A648-4F131130A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857375"/>
            <a:ext cx="461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避免固定 cut-off；让不同批次 AG 输出先归一到本批分布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CDD496-BEE0-4ADC-A681-210CAD00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62200"/>
            <a:ext cx="11049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698EBB-6DDB-4678-BE20-120468EC1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47925"/>
            <a:ext cx="1657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A1 Boltz LOF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17AD28-1CDB-4698-91CC-B8B68B8E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447925"/>
            <a:ext cx="432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mean(fb_z, heparan_z) ≤ -0.75 → 2M；fb-only fallback ≤ -1.5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4ACC19-528F-49D3-B6E6-10583627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47925"/>
            <a:ext cx="461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calibrate_2b2m v2：A1 clean set 2B=36, 2M=37；选择 precision-oriented 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980BC7-E417-449B-AC3A-79E18D15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0"/>
            <a:ext cx="11049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F3774A-02FE-4AD9-8915-FE4F10257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38475"/>
            <a:ext cx="1657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A1 equilibrium MD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A8EDCD-370B-4081-B04F-8D2BD1CB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38475"/>
            <a:ext cx="432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md_face_destab ≥ 1.0 → 2M soft evidence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FE0A41-63D1-433F-8FBE-AF5599F1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038475"/>
            <a:ext cx="461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7A6O WT+8×2B+3×2M：2M&gt;2B AUC≈0.83；仅作 tie-breaker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13B0F1-F0D4-46A3-97DB-0893DA77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43300"/>
            <a:ext cx="11049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61B691-D38C-4F52-91D1-C674425C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29025"/>
            <a:ext cx="1657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AIM-A1 salt bridge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66A07A-5529-4E00-B522-4C6F68E9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29025"/>
            <a:ext cx="432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retained_z ≥ 0.6 保护 2B-compatible；≤ -0.7 只作 2M 旁证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6218FE-4AC6-44EE-B8B7-CDB54CD23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29025"/>
            <a:ext cx="461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小样本校准，避免单独用 MD 盐桥硬判 subtype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FE7BB9-10A4-4F64-B2F8-D3E392EED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33850"/>
            <a:ext cx="11049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5130F2-A1EA-460C-ADE3-D177CD9A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9575"/>
            <a:ext cx="1657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结构稳定性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4A026C-264D-4675-BFFF-39E7A109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219575"/>
            <a:ext cx="432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pLDDT damage=(90-pLDDT)/30；&gt;0.5 为高损伤；PAE/10 归一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84E047-8C21-42B2-B847-B03C4707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219575"/>
            <a:ext cx="461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工程归一化 + 机制规则；用于 2A/2N/A1 辅助，不替代功能轴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647865-E593-40AA-A9EB-21FEF8C2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43500"/>
            <a:ext cx="981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FF8"/>
          </a:solidFill>
          <a:ln xmlns:a="http://schemas.openxmlformats.org/drawingml/2006/main" w="9525">
            <a:solidFill>
              <a:srgbClr val="BBE7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D3BF68-5488-4514-87C4-5E1965FC3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14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8A5A"/>
                </a:solidFill>
              </a:defRPr>
            </a:pPr>
            <a:r>
              <a:rPr sz="1650" b="1">
                <a:solidFill>
                  <a:srgbClr val="168A5A"/>
                </a:solidFill>
              </a:rPr>
              <a:t>审稿回答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DB8627-2BDA-46B4-9A6F-FB4F68C2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314950"/>
            <a:ext cx="752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先按机制轴定义方向，再用独立/参考校准集选择保守工作点；高风险轴只作为 soft evidence。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5CE080-C5D4-4439-87D9-CCE326D5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Code refs: scripts/agentic_vwf_classifier.py; calibrate_2b2m_thresholds.py notes in classifier comments; latest Eval remains label-heldout after prediction.</a:t>
            </a:r>
          </a:p>
        </p:txBody>
      </p:sp>
    </p:spTree>
    <p:extLst>
      <p:ext uri="{BB962C8B-B14F-4D97-AF65-F5344CB8AC3E}">
        <p14:creationId xmlns:p14="http://schemas.microsoft.com/office/powerpoint/2010/main" val="3190038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827682-9547-4E36-8B64-17E14E44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Boltz 特征怎么来：输入复合体，输出静态结构置信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F549BD-05A3-4F82-94DD-221B9414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Boltz 不是 MD，它预测一个静态复合体及相关 confidence/score。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68C321-52F1-4B46-BD5D-EB307FDE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8AC370-7F8C-402A-9DBD-EF3F611D1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1DC130-BFD3-4C81-B91C-8F8D9883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Boltz 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DA599-63A0-4DE0-BBBA-965D6B71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504950"/>
            <a:ext cx="2800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我们输入什么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43E40E-05C9-40DC-9453-806FC868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504950"/>
            <a:ext cx="289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Boltz 输出什么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F332F2-FBC0-40AB-BC25-ABF11603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504950"/>
            <a:ext cx="3467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我们计算什么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44E2A2-4F1A-4FCA-903D-E2B6CBA6B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1104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E36F7A-DE27-4686-B6A5-1E99D5955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38325"/>
            <a:ext cx="1276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A1-GPIb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A4266D-8934-4F65-9AC8-A3B231D4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38325"/>
            <a:ext cx="2800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WT/variant A1 + GPIbα 片段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0C74B5-3126-4C80-A62E-A052A251F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838325"/>
            <a:ext cx="289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complex prediction；iPTM/pTM/pLDDT 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45A26B-5D3C-4729-ACBB-08B550A64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38325"/>
            <a:ext cx="346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primary score 与 WT/同轴分布比较 → fb_binding_zscore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50A5DF-6A72-4CFF-82E8-BD4D35362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05050"/>
            <a:ext cx="1104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4BEDEC-FB1E-4CC1-9916-D515961D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90775"/>
            <a:ext cx="1276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A1-heparan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384BC7-EABF-47DD-8D0B-31DB313CB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390775"/>
            <a:ext cx="2800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WT/variant A1 + heparan/heparin-like ligand context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A992F8-FDEC-4B6A-8909-BABD57276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390775"/>
            <a:ext cx="289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A1 表面结合 context 置信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DE7CA0-9AC6-4ADC-B2E7-E1E645E36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90775"/>
            <a:ext cx="346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同法得到 heparan_zscore；作为 A1 表面/结合面 proxy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A23775-F363-46CC-A969-92CC05FDE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0"/>
            <a:ext cx="1104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07EE64-EC8C-4C25-AB57-61F627112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43225"/>
            <a:ext cx="1276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D'/D3-FVIII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E98786-23B4-470C-9413-B40B1177C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43225"/>
            <a:ext cx="2800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D'/D3 + FVIII binding context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8AB8E0-CCA0-4E88-99D6-54C423E5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943225"/>
            <a:ext cx="289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复合体 interface confidence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8A2954-D1B0-4F6F-9628-D30505573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943225"/>
            <a:ext cx="346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FVIII 结合轴，用于 2N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18AEC7-1DBF-48FA-B0AD-CD772B89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09950"/>
            <a:ext cx="1104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1369C5-322E-4A4F-9F59-E0440742B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95675"/>
            <a:ext cx="1276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A3-collagen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A4B760-3C46-4F0C-B2C9-1AF78B7C0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95675"/>
            <a:ext cx="2800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A3 + collagen binding context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7111D8-521F-484E-A802-B55F78CFC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495675"/>
            <a:ext cx="289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复合体 confidence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5486C9-6F0C-4884-8A71-B9166B73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95675"/>
            <a:ext cx="346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a3_collagen_zscore，用于 A3 型 2M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49745A-6C1B-4C20-8610-FE766975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981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FFD3C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697E66-31BA-42CB-BD88-928AECDD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863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6B35"/>
                </a:solidFill>
              </a:defRPr>
            </a:pPr>
            <a:r>
              <a:rPr sz="1650" b="1">
                <a:solidFill>
                  <a:srgbClr val="FF6B35"/>
                </a:solidFill>
              </a:rPr>
              <a:t>解释边界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B926AF-9120-4397-9211-53C16359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29150"/>
            <a:ext cx="723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Boltz 适合问“这个突变是否让某个复合体静态结合/界面置信变差”；不适合直接问“受力后 AIM 会不会打开”或“40-50ns 后接触网络会不会塌陷”。这些属于 MD/SMD 的问题。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9699A7-88FD-4662-9360-13E76169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Sources: Boltz-2 project/technical report; AF3/Boltz confidence metrics used here as proxies, not calibrated binding constants.</a:t>
            </a:r>
          </a:p>
        </p:txBody>
      </p:sp>
    </p:spTree>
    <p:extLst>
      <p:ext uri="{BB962C8B-B14F-4D97-AF65-F5344CB8AC3E}">
        <p14:creationId xmlns:p14="http://schemas.microsoft.com/office/powerpoint/2010/main" val="13358697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E47E77-837B-45EB-AF2D-2A05D188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缺口图谱：哪些能用 AG，哪些不能只靠 AG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769053-C998-48DB-B54F-31E78C4C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repo 记录：内皮细胞 CL:0000115 有 6 个有效模态；全组织模式可补 5 个表观模态。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110172-CF29-4758-82ED-58D3E7BB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23F3EA-83A6-4E04-A05D-C360A784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28750"/>
            <a:ext cx="1085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28E8B3-B9CE-49CE-BCFB-AFD06AC25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分型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58F668-5267-4EA3-8ED8-0568C30EC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504950"/>
            <a:ext cx="518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现在主要缺什么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002BB8-C13E-43BC-BAE8-7540B1DA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504950"/>
            <a:ext cx="422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优先补齐工具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49D856-73AB-4E60-BBFD-D50FD297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52600"/>
            <a:ext cx="1085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E81C7F-27EA-4EC1-9A86-F892028EB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38325"/>
            <a:ext cx="990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Type 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97ABCB-2BF9-43EC-9C2A-8F2AE7076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838325"/>
            <a:ext cx="5181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定量缺乏：表达/剪接可由 AG 辅助；分泌/清除/ER retention 不能由 AG 直接输出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795EFE-0EFA-4835-91F8-5705964B9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838325"/>
            <a:ext cx="422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AG RNA/splice/regulatory proxy + 结构稳定性/分泌 proxy + 临床 Ag/VWFpp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CEB07F-32FD-4952-B665-10A389C5A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05050"/>
            <a:ext cx="1085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5B39B6-3778-4071-ACFE-F79910FA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90775"/>
            <a:ext cx="990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2A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CC3B67-1E61-4967-B65F-0D231246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390775"/>
            <a:ext cx="5181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A2 unfolding、ADAMTS13 可及性、多聚体装配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95F448-FE62-49FE-AA20-F3A56759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390775"/>
            <a:ext cx="422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AF3/Boltz domain complexes + targeted 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411271-DF30-43AC-9BF2-DCC496DD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57500"/>
            <a:ext cx="1085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FBC53A-FFD4-4062-903A-90802961C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43225"/>
            <a:ext cx="990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2B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2B54E4-D701-4376-BAC0-84F6ECEC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943225"/>
            <a:ext cx="5181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力依赖 AIM release 还未直接测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F63F85-4A5B-4E28-B6BE-60393BC0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943225"/>
            <a:ext cx="422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saltbridge retention 仅作 face-retained 线索；SMD/force-MD 补 GOF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0CDA2C-AE23-4E81-85F2-B60613C3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09950"/>
            <a:ext cx="1085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FAEE59-9B4D-44EA-BA90-09E336F0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95675"/>
            <a:ext cx="990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2M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453FDC-4EC2-414F-8A7B-66417F94F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95675"/>
            <a:ext cx="5181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GPIb LOF 与 collagen LOF 覆盖不足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088394-3AB5-498B-96B8-ADBDEBCAB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495675"/>
            <a:ext cx="422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1SQ0 A1-GPIb MD + A3-collagen Boltz/MD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608FA7-D97F-42A8-8F8D-88F720352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62400"/>
            <a:ext cx="1085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63D592-A854-4214-BF46-9320780A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48125"/>
            <a:ext cx="990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2N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E97A10-DBD5-4113-BD8D-123DDAD2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048125"/>
            <a:ext cx="5181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D'/D3-FVIII interface 需要更窄阈值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FE824C-E2AD-4A9A-A040-F8E6E20A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48125"/>
            <a:ext cx="422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Boltz/AF3 complex + PAE/contact calibration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F22CEE-7335-4AE9-AE5D-46F6B039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514850"/>
            <a:ext cx="1085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40CF8B-05C2-4F86-944F-29ED5A10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00575"/>
            <a:ext cx="990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Type 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F4019D-C75B-4FA2-AC9C-49715F600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600575"/>
            <a:ext cx="5181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null/frameshift/biallelic severe absence 规则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91E073-35BB-43B8-A6DE-B6F75CF2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600575"/>
            <a:ext cx="422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variant consequence + genotype + AG/NMD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8663FB2-1D10-4F86-AE1A-8F98E4BDD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Repo refs: scripts/07e_god_mode_epigenome_crawler.py lines 12-13, 120-122, 494-502; scripts/03_run_alphagenome_inference.py uses CL:0000115 for endothelial RNA/splice.</a:t>
            </a:r>
          </a:p>
        </p:txBody>
      </p:sp>
    </p:spTree>
    <p:extLst>
      <p:ext uri="{BB962C8B-B14F-4D97-AF65-F5344CB8AC3E}">
        <p14:creationId xmlns:p14="http://schemas.microsoft.com/office/powerpoint/2010/main" val="114136003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AD1FD0-0918-4A48-B958-A6ACD84E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A1 难点：2B 和 2M 都在同一结构域，但方向相反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403BE9-97D0-4A8D-9362-AA77F4F6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2B 是 gain-of-function；2M 是 loss-of-function；关键是补齐方向性机制证据。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C41024-8948-44CD-896D-C6DCA890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DD4D1B-6C00-4466-932F-3F39F6B5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963E43-34FB-48EC-8403-E34A8920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85900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MD 指标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F515FF-FA57-431E-BD35-519E39A5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4859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直觉解释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6CB864-8475-4896-807B-6070A3D97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485900"/>
            <a:ext cx="3752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怎么算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ADB5F1-BB88-4501-BF36-1CB15B27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4859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分类含义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49D3E0-B16C-4E41-A139-1BDBE90C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33550"/>
            <a:ext cx="11049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402A3F-1454-4E1C-A7C2-5E2635127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19275"/>
            <a:ext cx="1847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saltbridge retention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02DDD8-2826-43DB-9A81-FC18B8E82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819275"/>
            <a:ext cx="2419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AIM-A1 的“锁/桥”是否还保留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8AA9D2-C9C9-48C6-B793-BD4214BF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19275"/>
            <a:ext cx="3752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tail window 内关键 AIM-A1 salt bridge/contact 占有率，转 z-score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74F4B8-9F8E-4CBA-9919-BE7DC6A4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19275"/>
            <a:ext cx="2419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高 z：面还在，anti-2M，支持 2B-compatible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202888-3EBF-49A3-894D-B183C694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05050"/>
            <a:ext cx="11049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E9E33E-AA8B-415B-8484-0EEDE342B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90775"/>
            <a:ext cx="1847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md_face_destab_score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F1A6AF-03D5-4E76-80AA-A33AE92A7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390775"/>
            <a:ext cx="2419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A1 结合面是否随时间变不稳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F66909-F490-42C0-B58A-D0D1D2B3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90775"/>
            <a:ext cx="3752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(0-5ns AIM-A1 masking contacts − 40-50ns tail contacts) / 20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99852C-91F4-482F-B3F6-F33B62A6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390775"/>
            <a:ext cx="2419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高：接触面塌陷/不稳，支持 2M LOF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CF20A4-5D03-4405-8233-F01D9FAB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76550"/>
            <a:ext cx="11049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392E45-B0EB-4837-811C-FB1077D04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62275"/>
            <a:ext cx="1847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tail window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AF9D3F-3BD5-47CA-8FA0-F0904611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962275"/>
            <a:ext cx="2419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看生产轨迹最后 40-50ns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CA1872-F41A-43BF-958A-B193C5E8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62275"/>
            <a:ext cx="3752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不是每 ns 一个概率分布；是轨迹帧统计后取尾部均值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8922C5-5B54-4282-8FDF-86ED148E7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62275"/>
            <a:ext cx="2419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减少初始构象/松弛阶段影响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F1768D-9218-4D27-A3A1-851FCAF1C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4762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FF8"/>
          </a:solidFill>
          <a:ln xmlns:a="http://schemas.openxmlformats.org/drawingml/2006/main" w="9525">
            <a:solidFill>
              <a:srgbClr val="BBE7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98374E-9D82-4C70-9B00-A91CA4B1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29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8A5A"/>
                </a:solidFill>
              </a:defRPr>
            </a:pPr>
            <a:r>
              <a:rPr sz="1650" b="1">
                <a:solidFill>
                  <a:srgbClr val="168A5A"/>
                </a:solidFill>
              </a:rPr>
              <a:t>新 2M MD 信号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D87670-A3CC-4DEE-A3F1-8BE4CF127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71950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L1276P/R/G1324R/A1377V 从 uncertain → 2M；2M recall +4，但 V1316M 等 2B 会被 face-destab 误伤。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70772E-6BAA-41D6-97B2-AB451D11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762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FFD3C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DA6131-FE5E-495A-A0F9-57CC5A1D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29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6B35"/>
                </a:solidFill>
              </a:defRPr>
            </a:pPr>
            <a:r>
              <a:rPr sz="1650" b="1">
                <a:solidFill>
                  <a:srgbClr val="FF6B35"/>
                </a:solidFill>
              </a:rPr>
              <a:t>文献边界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6AA3B7-60B5-47D5-9098-83559E41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95750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文献明确 2B/2M 都可涉及 A1-GPIb 轴；2B 常为 A1 GOF/自发 GPIb 结合增强，2M 为 platelet-dependent function 下降。边界不是“域不同”，而是功能方向不同。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6E2479-A6F6-40CE-97ED-EF777936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Sources: ASH/ISTH/NHF/WFH 2021 VWD guideline; Deng Blood 2017 AIM masks A1; PDB 7A6O/Nat Commun 2021 AIM-A1; repo MD report TYPE2M_LOF_MD_FAST_VALIDATION_REPORT.md.</a:t>
            </a:r>
          </a:p>
        </p:txBody>
      </p:sp>
    </p:spTree>
    <p:extLst>
      <p:ext uri="{BB962C8B-B14F-4D97-AF65-F5344CB8AC3E}">
        <p14:creationId xmlns:p14="http://schemas.microsoft.com/office/powerpoint/2010/main" val="65846906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2543B9-0F5A-4D4A-83A8-2E466B91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MD 与 SMD：先把可用轴跑通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DBBE5D-E67C-4F2F-8C5E-12C7C00A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SMD/force-MD 更接近受力释放机制，但需要慢拉、多重复和严格校准；短期不宜作为第一生产轴。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6BB6F8-0E75-4C55-8AB9-B8BF297F7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5144B2-5D5C-435F-8C4D-5F43A4ADF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057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DD2DBF-6B1F-4416-8680-6853AB51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1466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方法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29922F-5B6E-4304-BCAA-9EF398DAF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695450"/>
            <a:ext cx="2800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问的问题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1D7F1D-1A6C-41B0-9636-6EDDF23DB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695450"/>
            <a:ext cx="2705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优点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69F1AB-5049-4488-AF8C-773CF9FD5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695450"/>
            <a:ext cx="2990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瓶颈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36FB7D-90BA-4608-B051-B2F73B30D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10572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E82127-8713-4D15-BB76-A98CFA73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28825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Equilibrium 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18F591-AFBA-4D52-804F-F443D59D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028825"/>
            <a:ext cx="2800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无外力下尾部稳定状态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0AAB38-0BF7-499E-899F-58CE8E5E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028825"/>
            <a:ext cx="270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可批量；已能提供 2M rescue / anti-2M 线索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F5FEE0-A743-472C-A51E-FBDEFA66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28825"/>
            <a:ext cx="299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看不到真正剪切/拉伸触发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D67A63-73A7-48BC-A0A0-3DC79255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0572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BC9D97-A4F3-4D89-AC9C-820EF690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05075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SMD / pull code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FC8C3A-54D0-4566-A9C9-608DFEE7D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505075"/>
            <a:ext cx="2800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沿反应坐标拉开需要多少力/功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4508B2-76D5-4503-9F2C-3A475BAD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05075"/>
            <a:ext cx="270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更接近 AIM release / A2 unfolding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638D2D-1D54-4658-AF6A-AAC9F80E6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505075"/>
            <a:ext cx="299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非平衡；拉太快会失真；需多重复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E2980F-1266-4F06-8EDE-21F9C7FD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95600"/>
            <a:ext cx="10572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871441-431C-477C-9520-1E234BA5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81325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Umbrella/PMF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016F14-C6A6-45EC-91F7-649A8F8D3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81325"/>
            <a:ext cx="2800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自由能曲线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289CBE-B50A-4657-A4A4-C8585AA7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81325"/>
            <a:ext cx="270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物理解释更强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B70C88-4B83-4A79-877C-4771F33B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81325"/>
            <a:ext cx="299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窗口多，成本最高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A23CD8-280B-4D41-BF65-8A2E746B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9525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FFD3C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9B335D-BEC7-4ACB-87A0-F7B432373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624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6B35"/>
                </a:solidFill>
              </a:defRPr>
            </a:pPr>
            <a:r>
              <a:rPr sz="1650" b="1">
                <a:solidFill>
                  <a:srgbClr val="FF6B35"/>
                </a:solidFill>
              </a:rPr>
              <a:t>为什么慢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B5B014-593A-4627-AF00-95EBB28CC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29100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50 ns production 已是千万级步数；SMD 还要为每个变体做受力路径、重复轨迹和拉速敏感性分析。本地记录中 5 ns × 3 reps/variant 是小时级；异常争用下 WT 曾慢到约 1.4 ns/day。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0ACFA6-1153-416B-9317-8C377B20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Sources: docs/7A6O_SMD_STATUS_HANDOFF_2026-06-21.md; docs/7A6O_SMD_WT_DIAGNOSIS_2026-06-21.md; GROMACS pull-code docs.</a:t>
            </a:r>
          </a:p>
        </p:txBody>
      </p:sp>
    </p:spTree>
    <p:extLst>
      <p:ext uri="{BB962C8B-B14F-4D97-AF65-F5344CB8AC3E}">
        <p14:creationId xmlns:p14="http://schemas.microsoft.com/office/powerpoint/2010/main" val="186193154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B72E39-4358-4835-A0A3-5085D8066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三类动力学方法：成本与收益不同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F68B3B-8F67-4A92-8522-D793A1E8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我们目前做的是第一类 equilibrium MD；SMD/PMF 只适合少量机制验证或高价值 case。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896FEA-A4D0-4AA9-9EBB-6693ECAC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0D2918-9FF0-42E8-8EE6-8462822C4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285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FF8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D1CC8F-4594-4D89-A22E-E6759493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955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8A5A"/>
                </a:solidFill>
              </a:defRPr>
            </a:pPr>
            <a:r>
              <a:rPr sz="1950" b="1">
                <a:solidFill>
                  <a:srgbClr val="168A5A"/>
                </a:solidFill>
              </a:rPr>
              <a:t>Equilibrium MD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A16A4F-FF79-478B-928C-D07C5CC04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4795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无外力平衡动力学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50 ns production tail features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A669A5-55D8-41E1-94AA-517D5F40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成本：每样本约小时-天级 GPU</a:t>
            </a:r>
          </a:p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收益：可批量，当前已带来 2B/2M 信号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BF5186-3103-422D-B60C-DAA0D617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809750"/>
            <a:ext cx="285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529A40-1A2D-476E-892E-5E71F523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0955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6B35"/>
                </a:solidFill>
              </a:defRPr>
            </a:pPr>
            <a:r>
              <a:rPr sz="1950" b="1">
                <a:solidFill>
                  <a:srgbClr val="FF6B35"/>
                </a:solidFill>
              </a:rPr>
              <a:t>SMD probe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45CE79-ECF5-4570-B221-CC2016CE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4795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Steered MD / constant-velocity pulling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沿反应坐标拉开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56609C-6560-45E2-9F77-33BBAE37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5242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本地配置：5 ns × 3 reps/variant</a:t>
            </a:r>
          </a:p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成本：小时级/variant，慢速校准更贵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865ABF-8961-430E-8052-71D4EF6C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285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6501CD-5671-4A96-9FF4-F8D880F2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955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563EB"/>
                </a:solidFill>
              </a:defRPr>
            </a:pPr>
            <a:r>
              <a:rPr sz="1950" b="1">
                <a:solidFill>
                  <a:srgbClr val="2563EB"/>
                </a:solidFill>
              </a:rPr>
              <a:t>PMF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5E62C8-6B96-40C6-A976-E13D1EBD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4795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umbrella sampling + potential of mean force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多窗口自由能曲线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0A6BB0-CAC5-4265-B39A-CDDE7CB8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5242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成本：每样本最高，通常只做少数代表</a:t>
            </a:r>
          </a:p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收益：机制论文级证据，不适合全量预测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F960E3-57B1-41E3-BE99-B4290462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942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当前策略：SMD/PMF 用于高价值 case 的机制确认；短期批量提升 recall 仍优先 equilibrium MD + score fusion。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8E1513-6DD8-459B-B7EB-3B65DD3E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Local SMD record: 5 ns production replicate at 1 nm/ns, 3 reps/variant; GROMACS pull-code docs: non-equilibrium pulling requires path/repetition care.</a:t>
            </a:r>
          </a:p>
        </p:txBody>
      </p:sp>
    </p:spTree>
    <p:extLst>
      <p:ext uri="{BB962C8B-B14F-4D97-AF65-F5344CB8AC3E}">
        <p14:creationId xmlns:p14="http://schemas.microsoft.com/office/powerpoint/2010/main" val="84460875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E89E7F-DFE3-42E6-BFFF-749153D6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预期提升：保持保守，先追求 50-70% recall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3C59CA-026E-44B6-A5DF-1C8BC5AD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目前不应承诺 80-90%；先把每个分型稳定推入 50-70% 区间更可信。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D5F809-7CD6-4A04-B69A-25944731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92625A-DA15-4879-9524-E79BC92C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66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69FC24-06D9-4D1D-AF18-C6E5E576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85900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分型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82859B-50AE-46AF-A517-E04D4D55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485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当前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E2D347-D2BC-4381-B54A-B0D78C0D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8590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补齐机制后目标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CFA1BC-674D-4B09-8116-845E1A75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485900"/>
            <a:ext cx="575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主要抓手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4C6672-89A6-45DC-B64B-D7DE651BC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1066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B03B2E-5906-4D89-BDA3-90A11C78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1927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E8A92F-ECBB-4B8A-BACE-FF77CF6B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19275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0/115*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FDCFC4-7FAB-4ECC-9689-E34B68588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81927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50-60%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2A8CD9-62ED-4BF4-B872-579C1F47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819275"/>
            <a:ext cx="575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AG RNA/splice/regulatory proxy + secretion/clearance proxy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E53A02-2571-4B10-9D1D-6EAC272F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1066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223A7F-77D8-42FB-8022-2387551AD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2A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EA6222-1920-4828-8062-16D9EEBC1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333625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70/118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1DD036-62F5-4807-973A-F1903A73B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33362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60-70%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A089B2-8D6F-42AA-A182-D06E0E1EC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33625"/>
            <a:ext cx="575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A2/A3/D4 多聚体与 ADAMTS13 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C4DBD1-11F3-4111-BF80-691CD3D0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62250"/>
            <a:ext cx="1066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988C7E-1A96-4865-B3B4-21BF92265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4797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2B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645BDB-899F-4896-BEF8-D759576D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847975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15/38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DAE898-DF45-4DA4-9E63-3D4D122ED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84797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50-60%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AF3C65-E7E1-4F97-8788-E258E9BFB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847975"/>
            <a:ext cx="575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force-release/SMD + GPIb retained/increased + saltbridge retention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63728A-A020-42D7-B121-FC1EAB61C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1066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7E3DDE-7453-40FC-B2F0-ED216102C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6232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2M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BBBE69-4B88-49DD-A143-8C8DAFDB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362325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25/53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ECB7DF-1287-49F4-9B52-22B78CF7C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36232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50-65%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C6A3E9-848D-4994-92D6-C03AFF8C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362325"/>
            <a:ext cx="575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A1-GPIb LOF + A3 collagen + MD score fusion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0E9385-3204-4233-8C72-75E54C0E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90950"/>
            <a:ext cx="1066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0C05CC-CAF5-49B3-B22A-A31E781E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2N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7E8E50-899D-4275-AE38-90DAF896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876675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12/16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879485-8DF3-491A-9EFF-3CB141A8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87667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60-70%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5BA7D40-D811-40FD-BD5D-777E830E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876675"/>
            <a:ext cx="575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D'/D3-FVIII interface tightening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299A133-76E5-4759-A2E1-C430DA3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05300"/>
            <a:ext cx="1066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F19B353-5F80-4578-A561-1E9C2D09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9102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5F864B-8BE3-4ECA-9377-EAC3D012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91025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未纳入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DEF9BEA-1141-4741-A0DA-EA1D05DD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9102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60-70% for null-rich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58C8023-4382-4418-BFC0-A630F0F2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391025"/>
            <a:ext cx="575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consequence/genotype/NMD module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EBA9E8A-68B3-4A47-AAA1-2AF9766F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933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* Type 1 当前进入 Eval 但规则未真正覆盖；因此不能当作系统最终能力。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771CE60-7BE6-4171-985F-3F8F2F59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Target bands are conservative planning estimates, not validated claims.</a:t>
            </a:r>
          </a:p>
        </p:txBody>
      </p:sp>
    </p:spTree>
    <p:extLst>
      <p:ext uri="{BB962C8B-B14F-4D97-AF65-F5344CB8AC3E}">
        <p14:creationId xmlns:p14="http://schemas.microsoft.com/office/powerpoint/2010/main" val="12795691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12081B-AA2B-4025-B3C0-F4EE4E69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研究定位：subtype mechanism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030E55-3758-44BE-9C02-33148FE0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现有 AI 变异工具多回答“是否有害”；我们的问题是“有害通过哪条 VWF 机制表现为哪个 subtype”。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E3D557-3654-4120-A6EE-A0D4C86B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21A10C-55DB-4BCD-9E5B-06614FA89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57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DB9E88-80C8-4491-91FA-FE2D4C2B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相关方向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3BC198-3B04-4FFC-A27F-A17D2E3E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504950"/>
            <a:ext cx="3657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已有能力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E66BE5-CB0E-46DB-8378-F0CC9FEC0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504950"/>
            <a:ext cx="4610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留下的空白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42FBF3-A2AB-4918-BB25-D8A14262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ADA26E-9D7C-4A00-9078-8C11A60B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ClinGen/ACMG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F9435B-30DD-40D1-84FF-7ED09AF66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838325"/>
            <a:ext cx="3657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VWF rule specifications + curated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86BDB9-595C-4904-BBA6-064B9176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38325"/>
            <a:ext cx="461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可作 pathogenicity/curation baseline；不是前瞻机制预测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0B9348-D872-4601-BD2B-29F50ED97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71B55F-8549-4C74-A204-20D764CC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AlphaMissense/VEP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E98CE8-5F26-4C93-B176-4799E347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352675"/>
            <a:ext cx="3657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missense pathogenicity prior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671E58-C7A9-4D6D-BF71-C316858CA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352675"/>
            <a:ext cx="461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不直接给 VWD subtype 和机制方向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8AE14C-0010-4409-B6E8-83F336ADC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6A0371-A4BE-4363-9CD8-AC3175348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67025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AF3/Boltz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D2B639-45B6-48F3-BA74-D8585631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867025"/>
            <a:ext cx="3657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复合体结构与 confidence/affinity proxy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17666C-C89D-4FF4-AA78-90EA306F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67025"/>
            <a:ext cx="461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静态结构不能覆盖动力学/剪切触发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5861C0-3C20-428D-AEDA-F531560A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49E9B8-761F-48BF-8EE4-7678DD37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Medical LLM agents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9002B8-1151-483F-9859-1D46C597E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381375"/>
            <a:ext cx="3657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多专家推理框架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074F49-21BA-48F4-B632-E569E0470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81375"/>
            <a:ext cx="461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缺少 VWF 特异结构-功能证据链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3467C5-497E-4B3D-B7AD-F644394D8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7FB1EA-03CB-4862-90F4-0E3823387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95725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本项目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3567C0-383C-473A-AE2A-7189246D1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95725"/>
            <a:ext cx="3657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结构+AG+MD+规则解释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ADB52D-B3E3-4C4B-A102-C35FDBC0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95725"/>
            <a:ext cx="461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需要更完整 Type 1/3 与 2M/2A 机制模块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B44FCD-1F64-437A-B54A-68178ADC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9334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D9E138-ABE8-4F31-ADCC-3A4049C9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57750"/>
            <a:ext cx="866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研究问题：能否用结构预测、功能扰动和动力学特征，把 VWD subtype 诊断从表型标签推进为 variant-level 的机制可解释分型？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210B49-B3A1-4FA1-9575-61D5FF3B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Sources: ClinGen VWD VCEP / CSpec registry; AF3 Nature 2024; Boltz-2; AlphaMissense Science 2023.</a:t>
            </a:r>
          </a:p>
        </p:txBody>
      </p:sp>
    </p:spTree>
    <p:extLst>
      <p:ext uri="{BB962C8B-B14F-4D97-AF65-F5344CB8AC3E}">
        <p14:creationId xmlns:p14="http://schemas.microsoft.com/office/powerpoint/2010/main" val="139553654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EA6730-7998-4E70-9973-5554040D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Take-home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040916-D9BF-417D-AED1-504084F2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机制证据版结果更保守，也更能暴露真正的机制缺口。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6AB4AB-F297-4500-B83C-6ED411F9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621A41-23FB-4D04-B091-9277908E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102870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9525">
            <a:solidFill>
              <a:srgbClr val="C7D7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0EB78D-A5F3-4BF2-A345-CC7D237D5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09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1. 命名可行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9377F4-45F6-4A12-B4CE-B937EDFB9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9070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“机制驱动的 VWD 智能体辅助分型/诊断系统”符合项目实质；定位为 research prototype / decision support。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B7FEAB-B3AE-440C-91B7-ECB0307C6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102870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FF8"/>
          </a:solidFill>
          <a:ln xmlns:a="http://schemas.openxmlformats.org/drawingml/2006/main" w="9525">
            <a:solidFill>
              <a:srgbClr val="BBE7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27DC03-B92C-4E99-BC01-5C01484E0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8A5A"/>
                </a:solidFill>
              </a:defRPr>
            </a:pPr>
            <a:r>
              <a:rPr sz="1800" b="1">
                <a:solidFill>
                  <a:srgbClr val="168A5A"/>
                </a:solidFill>
              </a:rPr>
              <a:t>2. 已有价值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1095BF-83BB-4937-AC4D-A466ED52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93370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当前系统更干净；2M MD rescue 更可信，但 2B recall 暴露出缺少 force-release/GOF 动态证据。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69B47D-B713-4A1B-B091-87697BFB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102870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FFD3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34928E-36F0-4888-9170-D733BC36A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6B35"/>
                </a:solidFill>
              </a:defRPr>
            </a:pPr>
            <a:r>
              <a:rPr sz="1800" b="1">
                <a:solidFill>
                  <a:srgbClr val="FF6B35"/>
                </a:solidFill>
              </a:rPr>
              <a:t>3. 下一步明确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D0E83D-D357-4A57-BE7F-A06E14AB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7670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补 Type 1/3、重构 A1 score fusion、扩大 2M LOF 与 2A/2N 机制特征，是提升 recall 的主路径。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F1F689-5518-4E6F-AA1B-C8BBC72F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This deck is editable; numbers reflect the latest local Eval artifacts on 2026-06-29.</a:t>
            </a:r>
          </a:p>
        </p:txBody>
      </p:sp>
    </p:spTree>
    <p:extLst>
      <p:ext uri="{BB962C8B-B14F-4D97-AF65-F5344CB8AC3E}">
        <p14:creationId xmlns:p14="http://schemas.microsoft.com/office/powerpoint/2010/main" val="12235731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2026-06-30T02:20:18.5290000Z</dcterms:created>
  <dcterms:modified xsi:type="dcterms:W3CDTF">2026-06-30T02:20:18.5290000Z</dcterms:modified>
</coreProperties>
</file>