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256b6712545e5" /><Relationship Type="http://schemas.openxmlformats.org/officeDocument/2006/relationships/extended-properties" Target="/docProps/app.xml" Id="Rb70d6fc5f4094b44" /><Relationship Type="http://schemas.openxmlformats.org/officeDocument/2006/relationships/officeDocument" Target="/ppt/presentation.xml" Id="R3988dfa579a04e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8d3ee9dcde44e7"/>
  </p:sldMasterIdLst>
  <p:notesMasterIdLst>
    <p:notesMasterId xmlns:r="http://schemas.openxmlformats.org/officeDocument/2006/relationships" r:id="R5074ebf2e67b49ff"/>
  </p:notesMasterIdLst>
  <p:sldIdLst>
    <p:sldId xmlns:r="http://schemas.openxmlformats.org/officeDocument/2006/relationships" id="256" r:id="Rde257e551a6e4a13"/>
    <p:sldId xmlns:r="http://schemas.openxmlformats.org/officeDocument/2006/relationships" id="257" r:id="R8fb10f06b01941a9"/>
    <p:sldId xmlns:r="http://schemas.openxmlformats.org/officeDocument/2006/relationships" id="258" r:id="R44dbbaf80abf43da"/>
    <p:sldId xmlns:r="http://schemas.openxmlformats.org/officeDocument/2006/relationships" id="259" r:id="Rda4b01b148d44342"/>
    <p:sldId xmlns:r="http://schemas.openxmlformats.org/officeDocument/2006/relationships" id="260" r:id="R754974b6d5264226"/>
    <p:sldId xmlns:r="http://schemas.openxmlformats.org/officeDocument/2006/relationships" id="261" r:id="R4e697f88d59f4624"/>
    <p:sldId xmlns:r="http://schemas.openxmlformats.org/officeDocument/2006/relationships" id="262" r:id="R187644541a394892"/>
    <p:sldId xmlns:r="http://schemas.openxmlformats.org/officeDocument/2006/relationships" id="263" r:id="Rb862fdbecb7743fd"/>
    <p:sldId xmlns:r="http://schemas.openxmlformats.org/officeDocument/2006/relationships" id="264" r:id="R3494f36033f44e14"/>
    <p:sldId xmlns:r="http://schemas.openxmlformats.org/officeDocument/2006/relationships" id="265" r:id="Ree2ca77ed768405a"/>
    <p:sldId xmlns:r="http://schemas.openxmlformats.org/officeDocument/2006/relationships" id="266" r:id="Rb3ebf7348638429e"/>
    <p:sldId xmlns:r="http://schemas.openxmlformats.org/officeDocument/2006/relationships" id="267" r:id="R8e8b93e9e4a04d7e"/>
    <p:sldId xmlns:r="http://schemas.openxmlformats.org/officeDocument/2006/relationships" id="268" r:id="R5d811a023d70421e"/>
    <p:sldId xmlns:r="http://schemas.openxmlformats.org/officeDocument/2006/relationships" id="269" r:id="Rbbeffc621b9e4594"/>
    <p:sldId xmlns:r="http://schemas.openxmlformats.org/officeDocument/2006/relationships" id="270" r:id="R5d968da7b65a45f8"/>
    <p:sldId xmlns:r="http://schemas.openxmlformats.org/officeDocument/2006/relationships" id="271" r:id="R80f6094183f147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91300945a04ce4" /><Relationship Type="http://schemas.openxmlformats.org/officeDocument/2006/relationships/slideMaster" Target="/ppt/slideMasters/slideMaster1.xml" Id="Rfb8d3ee9dcde44e7" /><Relationship Type="http://schemas.openxmlformats.org/officeDocument/2006/relationships/notesMaster" Target="/ppt/notesMasters/notesMaster1.xml" Id="R5074ebf2e67b49ff" /><Relationship Type="http://schemas.openxmlformats.org/officeDocument/2006/relationships/presProps" Target="/ppt/presProps.xml" Id="R1da6375f74ed4350" /><Relationship Type="http://schemas.openxmlformats.org/officeDocument/2006/relationships/tableStyles" Target="/ppt/tableStyles.xml" Id="Rcaa0868e0749497c" /><Relationship Type="http://schemas.openxmlformats.org/officeDocument/2006/relationships/slide" Target="/ppt/slides/slide1.xml" Id="Rde257e551a6e4a13" /><Relationship Type="http://schemas.openxmlformats.org/officeDocument/2006/relationships/slide" Target="/ppt/slides/slide2.xml" Id="R8fb10f06b01941a9" /><Relationship Type="http://schemas.openxmlformats.org/officeDocument/2006/relationships/slide" Target="/ppt/slides/slide3.xml" Id="R44dbbaf80abf43da" /><Relationship Type="http://schemas.openxmlformats.org/officeDocument/2006/relationships/slide" Target="/ppt/slides/slide4.xml" Id="Rda4b01b148d44342" /><Relationship Type="http://schemas.openxmlformats.org/officeDocument/2006/relationships/slide" Target="/ppt/slides/slide5.xml" Id="R754974b6d5264226" /><Relationship Type="http://schemas.openxmlformats.org/officeDocument/2006/relationships/slide" Target="/ppt/slides/slide6.xml" Id="R4e697f88d59f4624" /><Relationship Type="http://schemas.openxmlformats.org/officeDocument/2006/relationships/slide" Target="/ppt/slides/slide7.xml" Id="R187644541a394892" /><Relationship Type="http://schemas.openxmlformats.org/officeDocument/2006/relationships/slide" Target="/ppt/slides/slide8.xml" Id="Rb862fdbecb7743fd" /><Relationship Type="http://schemas.openxmlformats.org/officeDocument/2006/relationships/slide" Target="/ppt/slides/slide9.xml" Id="R3494f36033f44e14" /><Relationship Type="http://schemas.openxmlformats.org/officeDocument/2006/relationships/slide" Target="/ppt/slides/slide10.xml" Id="Ree2ca77ed768405a" /><Relationship Type="http://schemas.openxmlformats.org/officeDocument/2006/relationships/slide" Target="/ppt/slides/slide11.xml" Id="Rb3ebf7348638429e" /><Relationship Type="http://schemas.openxmlformats.org/officeDocument/2006/relationships/slide" Target="/ppt/slides/slide12.xml" Id="R8e8b93e9e4a04d7e" /><Relationship Type="http://schemas.openxmlformats.org/officeDocument/2006/relationships/slide" Target="/ppt/slides/slide13.xml" Id="R5d811a023d70421e" /><Relationship Type="http://schemas.openxmlformats.org/officeDocument/2006/relationships/slide" Target="/ppt/slides/slide14.xml" Id="Rbbeffc621b9e4594" /><Relationship Type="http://schemas.openxmlformats.org/officeDocument/2006/relationships/slide" Target="/ppt/slides/slide15.xml" Id="R5d968da7b65a45f8" /><Relationship Type="http://schemas.openxmlformats.org/officeDocument/2006/relationships/slide" Target="/ppt/slides/slide16.xml" Id="R80f6094183f1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10b8564e3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36880bd0c4964" /><Relationship Type="http://schemas.openxmlformats.org/officeDocument/2006/relationships/notesMaster" Target="/ppt/notesMasters/notesMaster1.xml" Id="Rdbc1c34fdc45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8c170358a5436d" /><Relationship Type="http://schemas.openxmlformats.org/officeDocument/2006/relationships/notesMaster" Target="/ppt/notesMasters/notesMaster1.xml" Id="R78f5bff2c5814e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f7a06a51f422d" /><Relationship Type="http://schemas.openxmlformats.org/officeDocument/2006/relationships/notesMaster" Target="/ppt/notesMasters/notesMaster1.xml" Id="R2b919bb0502747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d2e6a58c947b1" /><Relationship Type="http://schemas.openxmlformats.org/officeDocument/2006/relationships/notesMaster" Target="/ppt/notesMasters/notesMaster1.xml" Id="R2041bdd7d1b546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185fd28eb4621" /><Relationship Type="http://schemas.openxmlformats.org/officeDocument/2006/relationships/notesMaster" Target="/ppt/notesMasters/notesMaster1.xml" Id="R3090d4cf7ec5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51583c406642f5" /><Relationship Type="http://schemas.openxmlformats.org/officeDocument/2006/relationships/notesMaster" Target="/ppt/notesMasters/notesMaster1.xml" Id="R106bb4f6980943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861164c22b4ad5" /><Relationship Type="http://schemas.openxmlformats.org/officeDocument/2006/relationships/notesMaster" Target="/ppt/notesMasters/notesMaster1.xml" Id="Re51ac82973ee4e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871b3907b432a" /><Relationship Type="http://schemas.openxmlformats.org/officeDocument/2006/relationships/notesMaster" Target="/ppt/notesMasters/notesMaster1.xml" Id="Rd2e91b6d25c5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12f54d3424937" /><Relationship Type="http://schemas.openxmlformats.org/officeDocument/2006/relationships/notesMaster" Target="/ppt/notesMasters/notesMaster1.xml" Id="Rcbfa0e280825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4be50bb435421f" /><Relationship Type="http://schemas.openxmlformats.org/officeDocument/2006/relationships/notesMaster" Target="/ppt/notesMasters/notesMaster1.xml" Id="R9de530418f4646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939a4f0cf40e1" /><Relationship Type="http://schemas.openxmlformats.org/officeDocument/2006/relationships/notesMaster" Target="/ppt/notesMasters/notesMaster1.xml" Id="R4a75608d021045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447b0742714b27" /><Relationship Type="http://schemas.openxmlformats.org/officeDocument/2006/relationships/notesMaster" Target="/ppt/notesMasters/notesMaster1.xml" Id="R543443e7efb745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f242d2bc3f44aa" /><Relationship Type="http://schemas.openxmlformats.org/officeDocument/2006/relationships/notesMaster" Target="/ppt/notesMasters/notesMaster1.xml" Id="Re74f323736234b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f1f1ffbd2f414b" /><Relationship Type="http://schemas.openxmlformats.org/officeDocument/2006/relationships/notesMaster" Target="/ppt/notesMasters/notesMaster1.xml" Id="R21352ed7e44d4e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4c2f4ad04247fa" /><Relationship Type="http://schemas.openxmlformats.org/officeDocument/2006/relationships/notesMaster" Target="/ppt/notesMasters/notesMaster1.xml" Id="Rb063ad30214141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ac7d66656e4c29" /><Relationship Type="http://schemas.openxmlformats.org/officeDocument/2006/relationships/notesMaster" Target="/ppt/notesMasters/notesMaster1.xml" Id="Rb873c7ba22ad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88aff937a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ab8045a684614" /><Relationship Type="http://schemas.openxmlformats.org/officeDocument/2006/relationships/slideLayout" Target="/ppt/slideLayouts/slideLayout1.xml" Id="R2180007303f6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0007303f6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800f82f19488d" /><Relationship Type="http://schemas.openxmlformats.org/officeDocument/2006/relationships/notesSlide" Target="/ppt/notesSlides/notesSlide1.xml" Id="Re033745368ec45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c8222b8254b23" /><Relationship Type="http://schemas.openxmlformats.org/officeDocument/2006/relationships/notesSlide" Target="/ppt/notesSlides/notesSlide2.xml" Id="Rbc70dae1fbb5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f197c0448478b" /><Relationship Type="http://schemas.openxmlformats.org/officeDocument/2006/relationships/chart" Target="/ppt/slides/charts/chart1.xml" Id="R1fb37e57314844e4" /><Relationship Type="http://schemas.openxmlformats.org/officeDocument/2006/relationships/notesSlide" Target="/ppt/notesSlides/notesSlide3.xml" Id="R4c01df44747d47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f780ee8a74e6a" /><Relationship Type="http://schemas.openxmlformats.org/officeDocument/2006/relationships/chart" Target="/ppt/slides/charts/chart2.xml" Id="R886cc28fe6144a78" /><Relationship Type="http://schemas.openxmlformats.org/officeDocument/2006/relationships/notesSlide" Target="/ppt/notesSlides/notesSlide4.xml" Id="R6f047f44cfbf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a0cec867b448b" /><Relationship Type="http://schemas.openxmlformats.org/officeDocument/2006/relationships/notesSlide" Target="/ppt/notesSlides/notesSlide5.xml" Id="Rd48ea0e032a842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641d968804779" /><Relationship Type="http://schemas.openxmlformats.org/officeDocument/2006/relationships/notesSlide" Target="/ppt/notesSlides/notesSlide6.xml" Id="Rcf809f50b0f342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8b29e3784eea" /><Relationship Type="http://schemas.openxmlformats.org/officeDocument/2006/relationships/notesSlide" Target="/ppt/notesSlides/notesSlide7.xml" Id="R4c1e19af8fed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5242b7cc5480a" /><Relationship Type="http://schemas.openxmlformats.org/officeDocument/2006/relationships/notesSlide" Target="/ppt/notesSlides/notesSlide8.xml" Id="R1519e2bb200a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4622730f14cbf" /><Relationship Type="http://schemas.openxmlformats.org/officeDocument/2006/relationships/notesSlide" Target="/ppt/notesSlides/notesSlide9.xml" Id="Rf4b7ccae1aa84c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e9e04bc44d4f" /><Relationship Type="http://schemas.openxmlformats.org/officeDocument/2006/relationships/notesSlide" Target="/ppt/notesSlides/notesSlide10.xml" Id="R9d19fc53eeef46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be5af7288408b" /><Relationship Type="http://schemas.openxmlformats.org/officeDocument/2006/relationships/notesSlide" Target="/ppt/notesSlides/notesSlide11.xml" Id="R0ddea16d2a944f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39c32a614cb0" /><Relationship Type="http://schemas.openxmlformats.org/officeDocument/2006/relationships/notesSlide" Target="/ppt/notesSlides/notesSlide12.xml" Id="Rf4aeb6e99a9240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28d78b274fb2" /><Relationship Type="http://schemas.openxmlformats.org/officeDocument/2006/relationships/notesSlide" Target="/ppt/notesSlides/notesSlide13.xml" Id="Re99c4de4f91d4a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9969696941c5" /><Relationship Type="http://schemas.openxmlformats.org/officeDocument/2006/relationships/notesSlide" Target="/ppt/notesSlides/notesSlide14.xml" Id="R7b3088193e0e44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5902c97c84809" /><Relationship Type="http://schemas.openxmlformats.org/officeDocument/2006/relationships/notesSlide" Target="/ppt/notesSlides/notesSlide15.xml" Id="R19eec10b5a984a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192d3b4ad4b7e" /><Relationship Type="http://schemas.openxmlformats.org/officeDocument/2006/relationships/notesSlide" Target="/ppt/notesSlides/notesSlide16.xml" Id="Rc1c1731213c94e0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1</c:v>
              </c:pt>
              <c:pt idx="1">
                <c:v>2A</c:v>
              </c:pt>
              <c:pt idx="2">
                <c:v>2B</c:v>
              </c:pt>
              <c:pt idx="3">
                <c:v>2M</c:v>
              </c:pt>
              <c:pt idx="4">
                <c:v>2N</c:v>
              </c:pt>
              <c:pt idx="5">
                <c:v>3*</c:v>
              </c:pt>
            </c:strLit>
          </c:cat>
          <c:val>
            <c:numLit>
              <c:formatCode>General</c:formatCode>
              <c:ptCount val="6"/>
              <c:pt idx="0">
                <c:v>115</c:v>
              </c:pt>
              <c:pt idx="1">
                <c:v>118</c:v>
              </c:pt>
              <c:pt idx="2">
                <c:v>38</c:v>
              </c:pt>
              <c:pt idx="3">
                <c:v>53</c:v>
              </c:pt>
              <c:pt idx="4">
                <c:v>16</c:v>
              </c:pt>
              <c:pt idx="5">
                <c:v>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2A</c:v>
              </c:pt>
              <c:pt idx="1">
                <c:v>2B</c:v>
              </c:pt>
              <c:pt idx="2">
                <c:v>2M</c:v>
              </c:pt>
              <c:pt idx="3">
                <c:v>2N</c:v>
              </c:pt>
            </c:strLit>
          </c:cat>
          <c:val>
            <c:numLit>
              <c:formatCode>General</c:formatCode>
              <c:ptCount val="4"/>
              <c:pt idx="0">
                <c:v>59.3</c:v>
              </c:pt>
              <c:pt idx="1">
                <c:v>39.5</c:v>
              </c:pt>
              <c:pt idx="2">
                <c:v>47.2</c:v>
              </c:pt>
              <c:pt idx="3">
                <c:v>75</c:v>
              </c:pt>
            </c:numLit>
          </c:val>
        </c:ser>
        <c:ser>
          <c:idx val="1"/>
          <c:order val="1"/>
          <c:tx>
            <c:v>Precision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2A</c:v>
              </c:pt>
              <c:pt idx="1">
                <c:v>2B</c:v>
              </c:pt>
              <c:pt idx="2">
                <c:v>2M</c:v>
              </c:pt>
              <c:pt idx="3">
                <c:v>2N</c:v>
              </c:pt>
            </c:strLit>
          </c:cat>
          <c:val>
            <c:numLit>
              <c:formatCode>General</c:formatCode>
              <c:ptCount val="4"/>
              <c:pt idx="0">
                <c:v>93.3</c:v>
              </c:pt>
              <c:pt idx="1">
                <c:v>88.2</c:v>
              </c:pt>
              <c:pt idx="2">
                <c:v>89.3</c:v>
              </c:pt>
              <c:pt idx="3">
                <c:v>30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14935-D084-43C7-930C-95CF156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以机制驱动的 VWD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3BCC5-A2C5-457E-A2CC-178DEFDE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智能体辅助分型/诊断系统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5C437-E34C-46A2-856C-C4BBD9B6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研究原型 · 面向 VWF 变异的可解释 subtype 证据融合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0BD1F-34E3-45AC-A442-0528D4B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CDD3C-2F9C-437D-8F38-1A464116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340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3D481-7480-4220-955E-2FA8D3D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最新实际 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C0B8A-9EE1-4370-A964-0628777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Type 1 + Type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5E121-A0D7-4475-B5AA-91435AD5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F60AA-8959-4EA9-B773-DAF7225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Type 2 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1CE5F-F73F-4743-A558-5BBF00D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2A/2B/2M/2N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FB0EE-4459-4F45-9C9B-624D525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91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54.2%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BAF9D-3368-48EA-A3AF-E008078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43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Type 2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5E007-EC7E-4BE9-96AF-8C718A29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no hotspot prior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17811-5548-4649-A11E-FBFD7C4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8A5A"/>
                </a:solidFill>
              </a:defRPr>
            </a:pPr>
            <a:r>
              <a:rPr sz="3150" b="1">
                <a:solidFill>
                  <a:srgbClr val="168A5A"/>
                </a:solidFill>
              </a:rPr>
              <a:t>机制补全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DC51B-63D1-41AC-BC36-78672FC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下一阶段目标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9D3AE-483F-4853-8E5B-A6866DA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Type 1/3 + 2M/2A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F7A26-4237-45B4-86FE-0048C71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Method name suggestion: mechanism-driven VWD agentic decision-support system; diagnosis remains clinician-confirmed.</a:t>
            </a:r>
          </a:p>
        </p:txBody>
      </p:sp>
    </p:spTree>
    <p:extLst>
      <p:ext uri="{BB962C8B-B14F-4D97-AF65-F5344CB8AC3E}">
        <p14:creationId xmlns:p14="http://schemas.microsoft.com/office/powerpoint/2010/main" val="576592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9CF56B-BF94-4B8B-9FC4-0DEB0A2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为什么叫“机制驱动”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3952-AF49-4CBC-913C-1D87FE7A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VWD 的临床 subtype 本身就是病理机制标签；系统目标不是黑箱分类，而是把证据按机制归位。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B7E32-DF1F-4D42-926E-87B866B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B2839-19DF-4E3D-ACD5-17D388EA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CC030-5B44-4276-ABDB-A2205A9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分型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F7D4-6FFE-46DA-9989-BE0DC76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14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临床/病理定义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165C7-C130-47E3-97AF-8A0C8A85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145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对应机制轴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036BC-19A4-44E8-AF24-673C4ADB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E21AD-4FDD-4652-AAC5-783458BA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Type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E3E8F-10FE-41BF-A015-671844B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478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部分定量缺乏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3978D-CE65-44E8-8B04-E8A2BCDA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VWF 水平/分泌/清除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D6938-2F2B-4697-A97D-A594DD6B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BD098-5E5C-4E5E-8017-2009ACB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Type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04A6-DA0E-4849-B0CC-22B1C7C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622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几乎完全缺乏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395FA-5B3D-4D0E-AA32-BE16D999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622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null / biallelic / severe deficiency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5E271-C129-43F1-B64B-9224DEE9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C0434-A311-4F40-8515-604D95B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45486-2BD4-4E23-93D9-232859E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765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高分子多聚体减少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1E90D-0922-450F-9563-DD30047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A2 稳定性、ADAMTS13、多聚化/分泌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140BF-4F79-4645-A2E0-978E708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A80C2-86A8-41EF-BBF3-8008F8E4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A8E96-7E54-46FE-8340-C6E37D2D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909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A1-GPIb gain-of-function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F328B-91F5-4053-9F78-50E927BA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909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AIM 自抑制松开且结合面保留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6849A-333C-40D5-82CD-5E5ACC3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26585-0424-4ABC-926C-B31595C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B0224-1654-4473-A80B-658B1D7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052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功能下降但多聚体保留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A3098-3C93-46EA-BBF4-DD4201A8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0527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A1-GPIb LOF 或胶原结合 LOF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12898-E8A6-40D9-90BE-645CA9F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D4C55-0430-47E7-B8A9-6ECB35DA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7BA55E-D006-4C6C-B87C-4EE7A50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196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FVIII 结合下降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A16982-8F5F-4062-BFFC-D4094F9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96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D'/D3-FVIII binding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0E3E1-C524-4DAC-9953-2F7DD9F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894CA0-C732-43F5-AB56-F78909A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核心优点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6E20B-5EEE-464A-B251-FFE0BCF3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知道缺什么：每个 subtype 可追溯到具体功能轴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知道错在哪：错误 case 能落到机制冲突或证据缺失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知道怎么补：Boltz/AF3/MD/SMD 分别服务不同机制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避免只看总 accuracy 的假安全感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6A47C-72B0-41B4-9F9E-39B90039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 basis: ASH/ISTH/NHF/WFH diagnosis guideline; Haematologica 2026 classification review.</a:t>
            </a:r>
          </a:p>
        </p:txBody>
      </p:sp>
    </p:spTree>
    <p:extLst>
      <p:ext uri="{BB962C8B-B14F-4D97-AF65-F5344CB8AC3E}">
        <p14:creationId xmlns:p14="http://schemas.microsoft.com/office/powerpoint/2010/main" val="1685021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BBA51-026A-4709-A844-57EA383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最新 Eval 直接结果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69460-7355-4EE1-A706-EF07715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不混历史数据：这里仅展示当前 pipeline 实际进入评估的 clean supported labels。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5A98C-E0B3-4F01-B987-FE5A14D6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81A19-AB58-4072-9B66-83F4EBC2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AC6AE-9255-477A-8EA2-AF664FA9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真实标签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66962-6E90-4D0A-B181-E0CD7A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764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25A08-955C-4B52-914E-07E9620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2506-B23B-4B0D-B29D-9A7F86CE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CAE0A-23E5-40EB-B0A5-B8D6EA2F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947A8-D40A-4EDA-9E52-6BD24A4E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097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4B046-13AF-4023-BB22-79041A6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977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进入 Eval；但 Type 1 规则尚不完整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21A82-DC8F-45CF-BC84-0654F19C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52CE1-FF6C-4A33-BFED-58DE3A0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486AF-B2FC-41EE-8677-00BFC056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241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91D47-703A-45FF-B568-C1D6D76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进入 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3A2EE-9433-4D16-94FE-6081138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AC529-9B7D-4F3E-AD77-32D97A6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C3480-24FC-4108-AC72-B0F7992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384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163A9-9F09-4CFD-8A73-BC5CF5E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3847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进入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A0E07-1B23-4FC8-B3AF-89EF357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683CD-96EF-4E5C-A8ED-0B4E6335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E8A27-3E30-42B9-8C76-A3375B6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528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54418-E153-48C1-9F81-168B81A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进入 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E616A-6A2D-4A16-8475-F556AF72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CD202-E405-4DCB-932B-487AB9C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25399-4DE1-42E4-99A1-DFF28849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671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A86CA-A584-4596-A4C5-30F08C0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6717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进入 Eval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9078B-6E20-4384-AD77-2DB1676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F903E5-6CF8-482F-8E30-797104D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DE95F-4039-4259-96AB-C94BBF91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815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44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3ED00-653F-4FD5-96E2-F0727F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815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干净库存存在；当前分类器未纳入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6096000" y="160020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b37e57314844e4"/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D2A36-355A-48B8-89FE-FE38BF1E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53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* Type 3 尚未进入本轮 recall/precision 计算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B1986-EB8A-4F56-8E1E-81A7D9CA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Repo artifact: output/type2m_lof_md_fast_validation_2026-06-29/eval_with_fast_md/eval_v2_summary.csv</a:t>
            </a:r>
          </a:p>
        </p:txBody>
      </p:sp>
    </p:spTree>
    <p:extLst>
      <p:ext uri="{BB962C8B-B14F-4D97-AF65-F5344CB8AC3E}">
        <p14:creationId xmlns:p14="http://schemas.microsoft.com/office/powerpoint/2010/main" val="1333826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71F50-F00F-41C0-AC03-D473A28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Type 2: 去掉 hotspot 后，系统更干净但更保守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34446-5147-4660-A4CF-FF2337E7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with MD + no hotspot prior 后，2B recall 下降，2M recall 上升；这暴露了真正需要动态 GOF 证据的缺口。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3BD82-ECB4-4514-A581-5887BAC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6cc28fe6144a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2C626-C9B1-444A-9FA5-B81B582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122/225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27A47-CB92-43FF-8522-E4423533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28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Type 2 overall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9FF34-AB3A-4501-90B7-7E072FBE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54.2%, uncertain=65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FA15C-BD45-49FB-8A6A-F29B870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76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8A5A"/>
                </a:solidFill>
              </a:defRPr>
            </a:pPr>
            <a:r>
              <a:rPr sz="3150" b="1">
                <a:solidFill>
                  <a:srgbClr val="168A5A"/>
                </a:solidFill>
              </a:rPr>
              <a:t>89.3%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F232B-5513-493A-8DF1-7D48F88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28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2M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117CE-A6BA-4400-8C63-E4E078DE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955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判出来仍较干净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CDDD0-5E70-4177-851C-927C7C4A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66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06567-3FAA-42AE-A62C-233BD44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76625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• 2B: recall 明显下降 = 之前确实依赖位置先验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• 2M: recall 小幅上升 = G1324R/A1377V 不再被位置先验截走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• 2N: recall 还行，但 precision 低 = 很多 2A 被吸到 2N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• no-hotspot 版本更适合汇报和投稿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1E3DE-7D61-4ADB-ACD0-95B38E1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Precision from current Type 2 confusion matrix: predicted-class purity; recall from true-label recovery.</a:t>
            </a:r>
          </a:p>
        </p:txBody>
      </p:sp>
    </p:spTree>
    <p:extLst>
      <p:ext uri="{BB962C8B-B14F-4D97-AF65-F5344CB8AC3E}">
        <p14:creationId xmlns:p14="http://schemas.microsoft.com/office/powerpoint/2010/main" val="339854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773EB-6952-4F1F-B1EF-FD078C5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错误结构：哪里漏、哪里误伤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86E3-D19E-40F8-A86F-413A0896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这页用于解释为什么报告 recall/precision，而不是只给一个总体准确率。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3966C-31AC-4FE5-B658-87871B3A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7BF7D-E021-4950-A85D-A0FE1BE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DEF58-50F2-41EC-B835-B997E098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true \ pred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50F82-EB87-43EC-BCC3-A6E7A792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695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7FBD2-885C-4935-9120-E1E1CC3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10BDC-4E8F-4C44-8331-4E29721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5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9821C-70EE-43F6-982E-4632AD6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A2A66-031E-4EA3-B2A7-7D7E4F6F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954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uncertain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28F3F-ED80-4875-8C0B-7347E142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2B2DF-EB19-4809-8D86-E86F0F0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2A4C5-BBD9-4B36-A2AF-167881E7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28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A"/>
                </a:solidFill>
              </a:defRPr>
            </a:pPr>
            <a:r>
              <a:rPr sz="1350" b="1">
                <a:solidFill>
                  <a:srgbClr val="168A5A"/>
                </a:solidFill>
              </a:rPr>
              <a:t>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BB6FD-D436-40DF-A795-E926616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28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69363-C093-421C-8AA5-59470FB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28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31F19-5502-402F-82A8-1B7A1F2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28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410C"/>
                </a:solidFill>
              </a:defRPr>
            </a:pPr>
            <a:r>
              <a:rPr sz="1350" b="0">
                <a:solidFill>
                  <a:srgbClr val="C2410C"/>
                </a:solidFill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63D05-555A-49AA-8639-1502E71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288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60E4E-023E-49E7-87CE-D97E238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3323E-B9FC-4B61-A874-1664D8FB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C862C-0098-4366-8FD2-2A1CFCD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860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DAFB6-0093-4637-A2C3-FDF88FB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860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A"/>
                </a:solidFill>
              </a:defRPr>
            </a:pPr>
            <a:r>
              <a:rPr sz="1350" b="1">
                <a:solidFill>
                  <a:srgbClr val="168A5A"/>
                </a:solidFill>
              </a:rPr>
              <a:t>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25AB7-8099-4B6B-8903-4461324F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DE61E-F562-4DC2-8B7A-931EC308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860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88F4F-EBD5-4CC1-9683-BC567655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C540C-C6F4-4D25-8191-2EBD9E8B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EC3E8-5C64-4A31-8355-8FDF0852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EBAC1-FC7F-4A3C-ADE9-8C4B2B1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432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5A53A-580F-4FE5-948F-C827748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432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4DFFB-0508-40D7-A411-2F443587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A"/>
                </a:solidFill>
              </a:defRPr>
            </a:pPr>
            <a:r>
              <a:rPr sz="1350" b="1">
                <a:solidFill>
                  <a:srgbClr val="168A5A"/>
                </a:solidFill>
              </a:rPr>
              <a:t>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EF477-EB5E-42E0-816B-7327EA4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432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1F22D-DCFA-4E0B-A0FF-D796C8B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432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410C"/>
                </a:solidFill>
              </a:defRPr>
            </a:pPr>
            <a:r>
              <a:rPr sz="1350" b="0">
                <a:solidFill>
                  <a:srgbClr val="C2410C"/>
                </a:solidFill>
              </a:rPr>
              <a:t>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CB6D5-38E1-41B2-B43B-25497C8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AC96BF-21C0-4E10-B2E0-14E7EFBD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8AFBBB-C7F7-4ACA-9E09-3259019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004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FE072-CE02-435F-86D7-C693473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04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A4400-36B5-4878-BD9D-ECF999E4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04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64E64-67AF-415A-A208-BBA7F1E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04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A"/>
                </a:solidFill>
              </a:defRPr>
            </a:pPr>
            <a:r>
              <a:rPr sz="1350" b="1">
                <a:solidFill>
                  <a:srgbClr val="168A5A"/>
                </a:solidFill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10CA0D-E678-4E11-A1A3-545C4FC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04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E5BECB-0201-4FA5-8A14-FCAF3EE8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三个直接结论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A33755-89A4-4C9C-931A-4477A4E2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2M 最大问题仍是漏：28/53 仍 uncertain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2B 最大问题变成保守：19/38 uncertain，3/38 被误判 2M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2A 最大问题是被 2N 规则吸走：28 例 2A→2N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93DA1-9E50-442B-9B2A-35640EE7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3714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DD9CD8-2BF0-43CB-A680-B41FFE6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汇报口径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BEF781-1348-4535-BBFA-2775CF7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当前模型应定位为 Type 2 机制分型原型；Type 1/3 补齐前不报告全分型 global accuracy。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B7193-C6BE-439F-8B17-94BC2C4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Repo artifact: eval_v2_type2_confusion_with_md.csv</a:t>
            </a:r>
          </a:p>
        </p:txBody>
      </p:sp>
    </p:spTree>
    <p:extLst>
      <p:ext uri="{BB962C8B-B14F-4D97-AF65-F5344CB8AC3E}">
        <p14:creationId xmlns:p14="http://schemas.microsoft.com/office/powerpoint/2010/main" val="1515646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F5D7E-19CA-4C2D-81C6-4E8A595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Case 正例：L1276P 从 uncertain 被 MD 救回 2M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568DE-5FE2-485B-A3FA-2074468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这页把每个指标、计算方式和 MD 补足的盲区讲清楚。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09D3F-20C5-4326-ACEC-94A9F593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1DF95-D399-4E5C-B2EC-EDEDC73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377F7-BCFE-4E8D-8B0B-9A18C25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6B322-4CFA-45E6-BE69-36F45BE9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049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141C0-1D44-4A9C-AF53-D760B4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Boltz 静态结构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A315B-2A66-4966-8F5B-A5A8062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049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3F44-72A0-467A-B8F8-A84FB62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规则融合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6C0EA-24B3-4920-8A32-4A488A8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049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725E2-BFFC-4768-9F3E-D20C00B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Equilibrium 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AA5FD-5315-44CF-80F9-2889172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049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11317-407E-4534-A517-4A9E936C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B7813-30E5-4117-AD1A-6C2E394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9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8DFC0-6D4D-4B18-B7DD-DBF70CC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9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7431F-0007-4BCC-89C4-1FBBF8B6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9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689DC-6D71-4C8E-86C0-77F2A5B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9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F4BFC-0338-417A-91E6-A39755D7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aa_change=L1276P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 domain, pos=1276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no position prior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863D9-18DB-46DC-A5FE-59D531B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859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fb z=+0.25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heparan z=+1.16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aim static=-0.50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6E31B-F91B-4A4E-9623-2B351313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no MD: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 方向证据弱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→ uncertain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5DAA1-374B-4AF4-BA53-D8F52FC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AIM-A1 contacts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0-5ns: 146.8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40-50ns: 112.8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loss=34.0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D7801-B0AA-4A77-8C5E-9D989532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8A5A"/>
                </a:solidFill>
              </a:defRPr>
            </a:pPr>
            <a:r>
              <a:rPr sz="975" b="0">
                <a:solidFill>
                  <a:srgbClr val="168A5A"/>
                </a:solidFill>
              </a:rPr>
              <a:t>pred=2M</a:t>
            </a:r>
          </a:p>
          <a:p xmlns:a="http://schemas.openxmlformats.org/drawingml/2006/main">
            <a:pPr algn="l">
              <a:defRPr sz="975" b="0">
                <a:solidFill>
                  <a:srgbClr val="168A5A"/>
                </a:solidFill>
              </a:defRPr>
            </a:pPr>
            <a:r>
              <a:rPr sz="975" b="0">
                <a:solidFill>
                  <a:srgbClr val="168A5A"/>
                </a:solidFill>
              </a:rPr>
              <a:t>conf=0.55</a:t>
            </a:r>
          </a:p>
          <a:p xmlns:a="http://schemas.openxmlformats.org/drawingml/2006/main">
            <a:pPr algn="l">
              <a:defRPr sz="975" b="0">
                <a:solidFill>
                  <a:srgbClr val="168A5A"/>
                </a:solidFill>
              </a:defRPr>
            </a:pPr>
            <a:r>
              <a:rPr sz="975" b="0">
                <a:solidFill>
                  <a:srgbClr val="168A5A"/>
                </a:solidFill>
              </a:rPr>
              <a:t>MD LOF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A5BB7-DF94-4B0D-9B27-EEE584B6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0AE06-9905-4FC7-84D0-D571DB1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0095E-CBE5-4AC9-82D9-6DBF59C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怎么算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27324-10E0-4F69-9B3A-D591420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本 case 含义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08F6A1-6998-4F3B-9C0B-E38E2A4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0A3F3-A64A-472C-860F-8EE2609C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fb_binding_zscore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D8FDE-3B4F-462B-9B2A-F724C2EF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76625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Boltz A1+GPIb complex primary score 的变体-同轴分布 z-score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74399-1CD5-4ADA-A2E3-5ABE2505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403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+0.25：不支持明显 GPIb 结合丢失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326BA-B601-4855-AF50-5221B6D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CDF505-5A94-44E8-8937-F4D8264C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heparan_zscore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437A2-90E2-4368-AF5A-020BDBF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Boltz A1+heparan model 同法转 z-score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23798-4540-4F4D-850F-CBF90EC6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86200"/>
            <a:ext cx="403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+1.16：静态表面轴不支持 LOF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8DAC5-EFDF-4256-BE4D-D50D49A5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6807EF-A181-4947-943E-24D0B332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position prior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082B4F-F724-4D2A-9D5E-C74873C5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95775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已从分类器移除；不再用 recurrent residue 直接判 2B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FFEFE-51CE-4F0D-8DD0-5E8FE93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95775"/>
            <a:ext cx="403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避免标签记忆/审稿质疑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418074-48A7-4AC4-B633-D0F5763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1658FA-03D3-4FEB-8842-284F628F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md_face_destab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782B93-6DD2-443C-B074-49B65106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05350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(0-5ns contacts − 40-50ns contacts) / 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E889AA-D25E-48F1-BC4E-119B1CCA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403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1.701：tail 接触显著下降，支持 2M LOF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63B8F7-6CE9-4878-A04C-A3436E3E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MD 补的盲区：Boltz 给的是静态复合体置信/结合 proxy，不能看到 closed-state A1 结合面在水环境中是否随时间塌陷；equilibrium MD 用 tail window 观察接触网络保留，给出动态稳定性证据。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5B97D-235E-43ED-B130-55B32868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Position/recurrent-residue prior removed after leakage-risk audit. Sources for mechanism context only: ASH/ISTH/NHF/WFH 2021; PDB 7A6O/Nat Commun 2021.</a:t>
            </a:r>
          </a:p>
        </p:txBody>
      </p:sp>
    </p:spTree>
    <p:extLst>
      <p:ext uri="{BB962C8B-B14F-4D97-AF65-F5344CB8AC3E}">
        <p14:creationId xmlns:p14="http://schemas.microsoft.com/office/powerpoint/2010/main" val="1769979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BDBB5-0534-4533-ACBE-C2CE8054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Case 负例：V1316M 显示 equilibrium MD 的歧义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0D201-7491-4876-8523-F85A27E7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去掉 hotspot 后，不再位置记忆；但单一 equilibrium MD LOF 轴会误伤部分真实 2B。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88F4C-ED0E-4C63-9815-18707EE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30C6A-C181-4CC1-BA31-DB66287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E2087-F598-4718-9845-66B991F2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7B6D1-467B-43AA-9AC8-021F266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002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1B54D-E432-4FBB-B5F3-099DC83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AEA23-66EB-457A-B522-4E875378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8D945-C460-4980-82F0-9D911FFE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AFCBA-21F9-404C-801A-351123B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335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V1316M, A1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4DA85-D8BB-4B32-8B24-074187E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335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true label = 2B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B6B7A-55FB-48E4-8EA1-E9A12D9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EEF47-90A3-433B-B08C-528DF74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位置先验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90DCB-55B4-40CE-9004-6E1EC12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288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已移除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83A3E-E680-43E5-97CA-E692E61F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288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不再因为 recurrent residue 直接判 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0743D-B95F-408A-8402-2F96592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E40E5-D637-4B32-A7EA-2E58646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Boltz 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3E4CD-5B0C-44F3-B769-3B8F360E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241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fb=-0.92, hep=-0.05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D13FE-0896-4E06-B47C-FF42971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241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未达到联合 LOF 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FD8B4-9400-48BA-9430-035605C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67997-CE28-46B9-9DF6-A76FC37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MD 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8A233-2C6F-4BBF-A5E2-D899F23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194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destab=1.158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FAFBB-57B9-4C9B-B49E-3959F57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194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tail 接触下降，触发 2M soft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46766-C337-456E-BBFB-C1357ED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896E7-F523-484B-8B6C-047B4EC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当前输出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D1F64-7127-4227-8485-A8226895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147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2M, conf=0.55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20A50-BF7A-4718-8B56-8AF593CC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147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说明 equilibrium MD face-destab 不是纯 2M 特异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44295-996D-4E15-A5CC-61867A77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46B28-5DD1-441D-AA37-C493A52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0C"/>
                </a:solidFill>
              </a:defRPr>
            </a:pPr>
            <a:r>
              <a:rPr sz="1800" b="1">
                <a:solidFill>
                  <a:srgbClr val="C2410C"/>
                </a:solidFill>
              </a:rPr>
              <a:t>错误归因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8086F-E013-4C86-A964-6185A99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161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平衡 MD 看不到受力 GOF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contact loss 也可能是 2B release-like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需要 SMD/force-release 轴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2M soft evidence 需加保护条件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6B1B7-4A0E-4D27-847C-D75EE291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优化方向：A1 判断需要 2B_score 与 2M_score 证据竞争。2B_score 不能来自位置记忆，应来自 force-release/SMD、GPIb retained/increased 或独立 GOF 证据。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FC420-FDEE-4BAF-B80B-BEFB5EBB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No-hotspot Eval: V1316M becomes true 2B → predicted 2M, exposing the need for a directional GOF dynamics axis.</a:t>
            </a:r>
          </a:p>
        </p:txBody>
      </p:sp>
    </p:spTree>
    <p:extLst>
      <p:ext uri="{BB962C8B-B14F-4D97-AF65-F5344CB8AC3E}">
        <p14:creationId xmlns:p14="http://schemas.microsoft.com/office/powerpoint/2010/main" val="878227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28C4B-D24A-4B23-A80E-5D28524F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系统实现：三层证据进入可解释智能体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5C47C-FB83-4AC3-A6C5-001B38B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分类器不看 subtype 标签；标签只在预测后用于 Eval。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B19D7-529E-42CF-8E61-E82F983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8D0D2-C204-4479-9919-E03C3A8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C3731-14AC-4B75-B175-9970D88B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3FAAC-5BEF-4DBD-829D-7FC0BB1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aa_change: L1276P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pos=1276, domain=A1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ref/alt amino acid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FFD1-0F6D-4B99-A4A4-6B404257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4E535-78D6-4993-867A-22AC115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CB304-218E-4623-99A1-B03760FF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特征层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58FA4-7F55-4EFD-8B97-97FDF8F0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AG: RNA/splice delta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Boltz: A1-GPIb, heparan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MD: contact tail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C6B36-01F6-4DC6-A551-3725E2A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CF784-3E5D-4785-A6E4-90314DC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E49D7-B05B-46C9-8D75-1CBC587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专家层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7BE32-7E23-47EF-B783-2A2972F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Structural Expert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Transcriptomic Expert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Clinical Geneticist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1AC38-D484-432B-BE5B-99CC4562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ADC29-3D01-46F0-8955-A4A9C1F1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C4541-3AF4-4B2D-B30D-7BBD94C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融合层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83B91-8669-4D0F-9DBF-E946989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interpretable rules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2B/2M directionality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uncertain allowed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8BB64-A742-42DF-8588-E894856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9B043-758F-470C-9C07-49BD52A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3EBC5-915E-4CA0-8813-E8C9AAAE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29E6D-39CB-4E40-9D27-1B5CABD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subtype: 2M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confidence: 0.55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• reasoning 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4C599-5400-4B5A-BD57-690DBA46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9525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8"/>
          </a:solidFill>
          <a:ln xmlns:a="http://schemas.openxmlformats.org/drawingml/2006/main" w="9525">
            <a:solidFill>
              <a:srgbClr val="BBE7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94FB9-5051-4561-88FE-3E292AA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A"/>
                </a:solidFill>
              </a:defRPr>
            </a:pPr>
            <a:r>
              <a:rPr sz="1725" b="1">
                <a:solidFill>
                  <a:srgbClr val="168A5A"/>
                </a:solidFill>
              </a:rPr>
              <a:t>无标签泄漏核实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BB313-EFEF-4138-857D-BF3A58AD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148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evaluate_vwf_classifier_v2.py 把 true_label/type2_subtype 改成 LEAK_TEST 后，pred_with_md 完全不变；label_leak_test_pass=1。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24096-2BE4-47A8-B539-1C3C8672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Code refs: scripts/agentic_vwf_classifier.py; scripts/pipeline/evaluate_vwf_classifier_v2.py.</a:t>
            </a:r>
          </a:p>
        </p:txBody>
      </p:sp>
    </p:spTree>
    <p:extLst>
      <p:ext uri="{BB962C8B-B14F-4D97-AF65-F5344CB8AC3E}">
        <p14:creationId xmlns:p14="http://schemas.microsoft.com/office/powerpoint/2010/main" val="1692568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70D68-114D-42E3-A1F1-3C4F5840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Boltz 特征怎么来：输入复合体，输出静态结构置信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B9FFA-7852-4555-B86F-71B44820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可作为汇报备注：Boltz 不是 MD，它预测一个静态复合体及相关 confidence/score。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10F73-7551-4D17-B358-82855C5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3AD45-F95C-4442-B361-15A23D24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365FC-4407-41E5-9215-C945A71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Boltz 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13D10-C4B6-4AA3-B314-594B9DFA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049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我们输入什么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FBC64-5F22-4055-B279-0C59F61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049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Boltz 输出什么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2048F-2ECB-4155-8CF1-008CCD8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我们计算什么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CED07-5B38-479A-813B-8B59BAC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C366B-9929-41EF-8CA5-A53F8A7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A1-GPIb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77A1D-398E-44D9-88AF-67AF72F7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3832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WT/variant A1 + GPIbα 片段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9DA6C-86B8-47B6-B040-AB6199C0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383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complex prediction；iPTM/pTM/pLDDT 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ABBCA-50B0-4F85-84EC-223183F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38325"/>
            <a:ext cx="346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primary score 与 WT/同轴分布比较 → fb_binding_zscore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50BA3-A9C8-4410-A664-35BB580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AD4AE-DA6D-4339-B753-0770AFE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A1-heparan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DE25D-1B56-426D-9934-8C04BC4D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9077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WT/variant A1 + heparan/heparin-like ligand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6E199-B6B7-4DC6-BAA1-F9F9C1EF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907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 表面结合 context 置信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0BE4B-38DE-436A-830A-031A88E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90775"/>
            <a:ext cx="346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同法得到 heparan_zscore；作为 A1 表面/结合面 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3F732-890B-42BB-B071-1D4D87C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9BD36-8FD2-47D7-8BB0-91650637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D'/D3-FVIII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A0769-8066-4E72-B6DB-844F4E2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4322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D'/D3 + FVIII binding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5A053-DB1F-4D8E-992D-0B73392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43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复合体 interface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25C70-9952-4160-952A-D3DDAB7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346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FVIII 结合轴，用于 2N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19933-AB1B-40B9-BE8A-D86EBA9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F9350-08CB-4119-85A0-5C6156F2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A3-collagen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1911C-95FB-40A2-A295-D4E61998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A3 + collagen binding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B909A-AD2C-4F57-A614-34DE6CD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956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复合体 confidence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556DC-9021-486E-8B5E-B427412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95675"/>
            <a:ext cx="346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a3_collagen_zscore，用于 A3 型 2M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3A94D-961F-48AC-8714-1D78EBDF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3E0674-3853-449F-BCA8-86F1A7F8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解释边界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F3B02-741B-4DEE-9B80-5C65FFC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Boltz 适合问“这个突变是否让某个复合体静态结合/界面置信变差”；不适合直接问“受力后 AIM 会不会打开”或“40-50ns 后接触网络会不会塌陷”。这些属于 MD/SMD 的问题。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F523E-D4AC-459C-B041-BA4ED1F7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Boltz-2 project/technical report; AF3/Boltz confidence metrics used here as proxies, not calibrated binding constants.</a:t>
            </a:r>
          </a:p>
        </p:txBody>
      </p:sp>
    </p:spTree>
    <p:extLst>
      <p:ext uri="{BB962C8B-B14F-4D97-AF65-F5344CB8AC3E}">
        <p14:creationId xmlns:p14="http://schemas.microsoft.com/office/powerpoint/2010/main" val="1905369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32A1E-8E3A-4EFD-B3B6-A22244A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缺口图谱：哪些能用 AG，哪些不能只靠 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2D37D-1417-438E-AB5D-0E13E2E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repo 记录：内皮细胞 CL:0000115 有 6 个有效模态；全组织模式可补 5 个表观模态。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1092-9380-4973-A19E-500AB45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5A354-B31A-43FE-9C53-4CA1177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85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B9C7F-FA24-45C6-99B5-EC4A1F72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分型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871C7-EDC8-4658-97C3-11C47779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049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现在主要缺什么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0AF93-842E-491B-B4A4-01F1363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0495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优先补齐工具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F3348-6241-403A-873B-937348C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BA25-DD42-4734-BC8D-50C95B42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Type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B5281-3590-496A-B573-4C0B9ED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3832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定量缺乏：表达/剪接可由 AG 辅助；分泌/清除/ER retention 不能由 AG 直接输出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EAA80-49FB-4414-A66A-9F3D715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3832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AG RNA/splice/regulatory proxy + 结构稳定性/分泌 proxy + 临床 Ag/VWFpp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3AA0F-6970-441A-985B-85E22AA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AD747-85CD-46B3-8AF3-2A0CDA2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F34B6-FD34-4169-B502-20CCA82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A2 unfolding、ADAMTS13 可及性、多聚体装配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4D14E-1EDC-4F12-9D0C-9F163A15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9077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AF3/Boltz domain complexes + targeted 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DDDB3-9AE4-42C7-AB42-FAC18F13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7FEFB-2D24-415C-8B20-14B699B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92343-0CF4-45D8-955A-71E27F0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4322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力依赖 AIM release 还未直接测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2A09-22C6-4114-B2BC-C4181EDF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4322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saltbridge retention 仅作 face-retained 线索；SMD/force-MD 补 GOF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2BC3C-2566-4A0B-B0DA-C6927E0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D908E-FB1A-46CA-9A9A-11D0D2A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35A35-39B1-4480-9EE3-DFCD507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9567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GPIb LOF 与 collagen LOF 覆盖不足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B47FE-4615-405D-8BE1-CA663B7E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1SQ0 A1-GPIb MD + A3-collagen Boltz/MD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3A37B-766D-42E5-818B-778A56F1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624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839A8-69D0-44D9-95D2-DAD1AD3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9662C-A8FC-4489-9F8A-3568F4BB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4812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D'/D3-FVIII interface 需要更窄阈值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E92CB-D172-4546-947B-06E565A9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4812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Boltz/AF3 complex + PAE/contact calibration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9530E-1829-4988-9729-20C7619C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148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D41E5-9F50-43C4-B1F3-3E351DB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Type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8B3401-D02F-41A2-B278-7C50FD6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null/frameshift/biallelic severe absence 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774A3-2634-4C05-918F-BB382EF9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0057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variant consequence + genotype + AG/NMD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0C529-CFF0-4373-BFEE-C6BFE29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Repo refs: scripts/07e_god_mode_epigenome_crawler.py lines 12-13, 120-122, 494-502; scripts/03_run_alphagenome_inference.py uses CL:0000115 for endothelial RNA/splice.</a:t>
            </a:r>
          </a:p>
        </p:txBody>
      </p:sp>
    </p:spTree>
    <p:extLst>
      <p:ext uri="{BB962C8B-B14F-4D97-AF65-F5344CB8AC3E}">
        <p14:creationId xmlns:p14="http://schemas.microsoft.com/office/powerpoint/2010/main" val="625527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55DA5-E6C0-410D-883C-5028585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A1 难点：2B 和 2M 都在同一结构域，但方向相反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6FE8A-E04A-44FD-B994-59C361C6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2B 是 gain-of-function；2M 是 loss-of-function。去掉位置先验后，这个难点被真实暴露。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5337B-51CF-4342-AB35-156ABA6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6005-CDDB-4902-8EEA-5DAEE81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A75BE-6EA5-497B-8AC0-975C9DAA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MD 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FBA4C-3E20-4603-80FB-B1F64EC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859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直觉解释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C688-51D0-4752-AAFC-BC02478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85900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怎么算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4B227-662C-47EB-8AC0-5C1729FC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859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分类含义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1C91-FE82-48E0-B8E4-4406FEDA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04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66470-236E-4004-9851-B587020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saltbridge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86B65-D421-4EF4-8F11-B0AE071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192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AIM-A1 的“锁/桥”是否还保留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05FF5-154E-49C1-89E5-C491DF2D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19275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tail window 内关键 AIM-A1 salt bridge/contact 占有率，转 z-score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74B49-B134-4AE6-A290-176A94F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192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高 z：面还在，anti-2M，支持 2B-compatible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60DF0-36B2-4C4A-9B25-36664D5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04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BD620-50BE-4E45-8FE0-BE093BC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md_face_destab_score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A26C0-B3F1-407F-8F0A-E2636736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907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A1 结合面是否随时间变不稳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455B-55BC-4C27-86DF-04B991E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(0-5ns AIM-A1 masking contacts − 40-50ns tail contacts) /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46825-4B43-4A8E-A1B4-21E4FF6B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907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高：接触面塌陷/不稳，支持 2M LOF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D6998-5E31-416F-8FC2-CE047FD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04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8D507-3AA0-4D7D-87D6-720597C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22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tail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FC84A-25F4-4D14-A59B-E624EB4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622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看生产轨迹最后 40-50ns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F613E-5AF2-4EA0-94B6-30641CC0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62275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不是每 ns 一个概率分布；是轨迹帧统计后取尾部均值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918A4-76C4-4CA3-BA51-D43F8A65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62275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减少初始构象/松弛阶段影响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95205-C502-46F8-B99B-1032708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8"/>
          </a:solidFill>
          <a:ln xmlns:a="http://schemas.openxmlformats.org/drawingml/2006/main" w="9525">
            <a:solidFill>
              <a:srgbClr val="BBE7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B04CC-0461-4B91-B524-8FC8119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5A"/>
                </a:solidFill>
              </a:defRPr>
            </a:pPr>
            <a:r>
              <a:rPr sz="1650" b="1">
                <a:solidFill>
                  <a:srgbClr val="168A5A"/>
                </a:solidFill>
              </a:rPr>
              <a:t>新 2M MD 信号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EBF7A-4C8F-4D0F-8524-A79F46A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71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L1276P/R/G1324R/A1377V 从 uncertain → 2M；2M recall +4，但 V1316M 等 2B 会被 face-destab 误伤。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DC977-3247-4E5A-9A9F-AED4E82B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76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E83D3-3440-453F-A7A6-295D1B5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文献边界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ACD8D-CC63-4E52-A003-61179DE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文献明确 2B/2M 都可涉及 A1-GPIb 轴；2B 常为 A1 GOF/自发 GPIb 结合增强，2M 为 platelet-dependent function 下降。边界不是“域不同”，而是功能方向不同。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E4E98-F774-444D-A83E-B8B72F96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ASH/ISTH/NHF/WFH 2021 VWD guideline; Deng Blood 2017 AIM masks A1; PDB 7A6O/Nat Commun 2021 AIM-A1; repo MD report TYPE2M_LOF_MD_FAST_VALIDATION_REPORT.md.</a:t>
            </a:r>
          </a:p>
        </p:txBody>
      </p:sp>
    </p:spTree>
    <p:extLst>
      <p:ext uri="{BB962C8B-B14F-4D97-AF65-F5344CB8AC3E}">
        <p14:creationId xmlns:p14="http://schemas.microsoft.com/office/powerpoint/2010/main" val="1826336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0E27B2-38BE-48F0-876A-9E90D264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MD 与 SMD：先把可用轴跑通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621D6-6CBD-4F48-AD8B-FC82FA1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SMD/force-MD 更接近受力释放机制，但需要慢拉、多重复和严格校准；短期不宜作为第一生产轴。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527C3-71EF-476E-8E39-8E407451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50490-60F2-460A-926A-AC57BB89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9275D-44D6-4138-8BEF-4A0057AC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BF6A5-1FCF-4D1B-965D-93A2BA0D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954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问的问题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EE6C5-6FB2-4B40-93E7-A2152C10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优点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8B614-2D03-470A-A7E2-FFA9858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6FD3B-F20B-45B4-A022-EA87E19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1057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EE3F4-D3B5-4C1C-8414-7797520C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Equilibrium 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23613-FDEB-4BA0-B4DF-89B77BD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288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无外力下尾部稳定状态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5821C-76E0-46E0-9046-42F547D5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288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可批量；已能提供 2M rescue / anti-2M 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9CF1D-685B-42DC-8ABF-56DA7A1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288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看不到真正剪切/拉伸触发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7A2BD-36DB-43C9-954B-8977CE8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70F55-1A07-45BA-BBD0-66F7E350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SMD / pull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601C6-D097-4418-AAED-269A7A8A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050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沿反应坐标拉开需要多少力/功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A5D04-3566-4DD2-B2DF-F77D429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更接近 AIM release / A2 unfolding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B5B67-0469-4F72-B89A-0119CDC3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0507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非平衡；拉太快会失真；需多重复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D215F-EE65-40CD-8241-5DF7537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57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41D58-CE4E-4C52-A2B1-B2739E80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Umbrella/PMF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2CFC8-D5C2-43F2-9B07-A51AA41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813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自由能曲线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8EDD3-9D91-49E2-BCC2-1145244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物理解释更强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9F3DE-7DFA-47CF-BEFD-C101D15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813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窗口多，成本最高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53A47-4C85-4E9F-B755-95ECABBD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B53B9-158A-49E2-AA0D-2D23550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为什么慢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E5511-6FC5-4AE8-BCAE-D4986DB6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50 ns production 已是千万级步数；SMD 还要为每个变体做受力路径、重复轨迹和拉速敏感性分析。GROMACS 文档也强调非平衡拉伸只有在足够慢或多路径统计下才可解释。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1C16F-A647-4403-A593-95A79602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GROMACS pull-code docs; VWF A2 force-unfolding MD/AFM literature.</a:t>
            </a:r>
          </a:p>
        </p:txBody>
      </p:sp>
    </p:spTree>
    <p:extLst>
      <p:ext uri="{BB962C8B-B14F-4D97-AF65-F5344CB8AC3E}">
        <p14:creationId xmlns:p14="http://schemas.microsoft.com/office/powerpoint/2010/main" val="1924489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8462D-9DF8-4650-8103-E490FD0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三类动力学方法：成本与收益不同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31E27-0824-42A8-80EF-2C8610C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我们目前做的是第一类 equilibrium MD；SMD/PMF 只适合少量机制验证或高价值 case。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618EB-8A37-4ED1-8D4B-C8DB651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AC550-7769-4D13-ABF0-74F12A4D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8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E3A45-77DD-4B0D-80B7-70B7D872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A5A"/>
                </a:solidFill>
              </a:defRPr>
            </a:pPr>
            <a:r>
              <a:rPr sz="1950" b="1">
                <a:solidFill>
                  <a:srgbClr val="168A5A"/>
                </a:solidFill>
              </a:rPr>
              <a:t>Equilibrium 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D0640-6CDC-4BE4-91E4-DCBF9978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无外力平衡动力学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50 ns production tail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8963D-56B2-466F-94AE-FFC3D8D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成本：每样本约小时-天级 GPU</a:t>
            </a:r>
          </a:p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收益：可批量，当前已带来 2B/2M 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E478-FC8D-4656-BB34-5CDACB6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8B7D7-1576-44A8-9D59-5DF845E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SMD probe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5C72E-0DA9-408A-A3D5-60125553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Steered MD / constant-velocity pulling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沿反应坐标拉开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487C4-4725-4B1D-815D-F0F2C17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成本：每样本多重复，约数倍-十倍 MD</a:t>
            </a:r>
          </a:p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收益：可能验证 AIM release / A2 unfolding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DE5B7-9391-462A-B6F4-E8976F6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4BDD5-A32C-491B-A720-56C42C4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Umbrella / PMF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E17A3-C65F-4DEF-ACB1-B712ADB9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umbrella sampling + potential of mean force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多窗口自由能曲线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B4E90-4FC7-48E7-BF30-CE19951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成本：每样本最高，通常只做少数代表</a:t>
            </a:r>
          </a:p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收益：机制论文级证据，不适合全量预测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E13F3-1231-41E9-B891-C335E56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汇报口径：SMD/PMF 可作为高价值 case 的机制确认，但短期提升 recall 的性价比仍是 equilibrium MD + score fusion。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7EB12-3952-4E71-8D9C-A33B2BE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GROMACS pull-code and umbrella sampling docs; force-MD is non-equilibrium and requires replicas/slow pulling for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61061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704E25-3D2E-4B15-8EA9-1E72FAE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预期提升：保持保守，先追求 50-70%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24A86-2D3B-4609-BFB9-108BEAD4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目前不应承诺 80-90%；先把每个分型稳定推入 50-70% 区间更可信。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DF564-FC04-4F75-892A-21D8E40D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49E4B-7EFB-4DB7-BF86-2C4E39D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76BBE-A180-461A-9C7A-BE0C0B0A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分型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358A7-6ED9-458C-A2D9-9D051B7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85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当前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74B8D-477A-4E7B-BA45-44918D3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补齐机制后目标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CE6E4-16FB-4130-9359-7D549345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85900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主要抓手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02E0-E5E4-4C5B-B281-61D198A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23C5C-7D4B-4E1F-8135-775E44B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ADE9A-92F4-4599-9C60-E5F15E6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1927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0/115*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17BE0-3A09-44FD-8AC7-173CBEB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50-60%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0274F-B585-4950-931C-941F825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1927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AG RNA/splice/regulatory proxy + secretion/clearance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10BE2-C820-4529-A03F-9E3F1A6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63584-7A13-45FC-9475-EBD5156F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E955A-2AFD-4706-8AEA-FC16A3E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70/118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3B848-BAD7-4D1F-B8ED-3C38BEDD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336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60-70%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BF35A-9177-47C2-B322-8036605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3362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A2/A3/D4 多聚体与 ADAMTS13 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D3A7F-26C6-4351-A429-FF2E78E5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9ACA4-357E-4A79-96F0-84D26C0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479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F7B80-ACF3-4A5C-AF1D-8A6E2751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4797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15/38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F9BC3-95D8-42D9-9E1A-DEFB84E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50-60%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D1F1C-9448-4288-BD40-FAA3A2A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4797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force-release/SMD + GPIb retained/increased + saltbridge 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C678B-5E85-42E5-9C15-63A09EA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18C16-BD47-4185-88D1-3219DD8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B4ABB-6680-4DB1-A643-CE8E27EE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623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25/53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06184-2649-4D71-8E36-DF396A6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623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50-65%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F1990-7301-49A4-8486-C8B0EFBD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6232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A1-GPIb LOF + A3 collagen + MD score fusion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B34CE-C619-416F-92A3-D1F1F6F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5C233-8F89-4F9C-8A10-CA3D9884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07AF3-52D4-4A09-9597-D88DE7A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7667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12/16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DD7FD-4720-42DE-A774-9F6669B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766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60-70%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D36F7-7876-4581-92E6-8B19005E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7667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D'/D3-FVIII interface tightening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6CCA7-080C-46AB-8410-C3C1D5F0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3739AF-BD86-4D0E-A0D5-B3C077E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E75EB6-564C-4855-982E-32C496A4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910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未纳入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48BF93-89D7-4F42-B987-CF2CBCD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910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60-70% for null-rich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7E7B3-5456-492A-AE13-D07B903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91025"/>
            <a:ext cx="575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consequence/genotype/NMD module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ACD77-7BBA-4060-A764-5BB8F52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* Type 1 当前进入 Eval 但规则未真正覆盖；因此不能当作系统最终能力。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C11FE8-FC90-4026-A9F5-0CD02FC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Target bands are conservative planning estimates, not validated claims; report them as next-phase milestones.</a:t>
            </a:r>
          </a:p>
        </p:txBody>
      </p:sp>
    </p:spTree>
    <p:extLst>
      <p:ext uri="{BB962C8B-B14F-4D97-AF65-F5344CB8AC3E}">
        <p14:creationId xmlns:p14="http://schemas.microsoft.com/office/powerpoint/2010/main" val="21181869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34703-73F1-4E2B-ADE7-17B3B393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研究定位：不是泛化 pathogenicity，而是 subtype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5185E-1733-40E7-9BA5-4A167261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现有 AI 变异工具多回答“是否有害”；我们的问题是“有害通过哪条 VWF 机制表现为哪个 subtype”。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792EA-E4D2-4164-A71E-6D793AA0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58B33-C1C6-4260-A94F-D509246B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2C056-A434-4C06-8407-1ADBA1B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相关方向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3D3BB-6839-4ADD-B915-4F9F877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0020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已有能力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CDC31-A7B2-446E-9A62-AA2E1F2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留下的空白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23BF-9453-455E-8AFB-96BBAE8A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0DBC8-71BF-4902-96BA-E9B29699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AlphaMissense/VEP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BB72-7469-4EF3-BA0F-A45035C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335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missense pathogenicity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FA403-5539-43A4-B215-76CE31F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335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不直接给 VWD subtype 和机制方向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87A60-0C7D-416E-8E06-11C1521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57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E3AF-7645-490F-A0E5-36D209A9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AF3/Boltz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ADF45-FE47-45A6-8A9B-E5B3355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669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复合体结构与 confidence/affinity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14948-24CF-4164-ACFE-3B04FAB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69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静态结构不能覆盖动力学/剪切触发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53537-17D9-4D21-998F-C7BC3621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57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5D449-5D82-4450-BED4-CB936322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Medical LLM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E5145-2A58-4680-B919-E2E0E25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多专家推理框架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E7390-9873-4AE5-9684-F5A248D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03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缺少 VWF 特异结构-功能证据链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723C6-4F2A-4B19-9189-1861B01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57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78A7F-5A78-442A-8AE8-412AC6E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本项目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5D8F8-FE66-4599-A8FA-0DE31866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337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结构+AG+MD+规则解释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48DFA-9D03-40A2-8B66-1C11850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337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需要更完整 Type 1/3 与 2M/2A 机制模块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F58BF-1B6E-4DE9-9E10-83B5D55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5D01A-BA54-407E-8AC6-4AC8F678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研究问题：能否用结构预测、功能扰动和动力学特征，把 VWD subtype 诊断从表型标签推进为 variant-level 的机制可解释分型？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06867-3FB7-4A61-B4D7-0F857515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AF3 Nature 2024; Boltz-2 technical report/repository; AlphaMissense Science 2023/PubMed.</a:t>
            </a:r>
          </a:p>
        </p:txBody>
      </p:sp>
    </p:spTree>
    <p:extLst>
      <p:ext uri="{BB962C8B-B14F-4D97-AF65-F5344CB8AC3E}">
        <p14:creationId xmlns:p14="http://schemas.microsoft.com/office/powerpoint/2010/main" val="2233249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AD8BE-820E-4018-8D4D-99D077C1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FDAF-781F-452C-8B7C-2B944757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汇报时建议把“系统还低”说成“机制补全空间明确”。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76058-29F8-4519-B4A3-0D2CEBE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VWF-ETHos · 2026-06-29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A07AB-2B3B-478A-A834-CD46CCD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25D7-9826-4AEE-BEEA-7A5BE8F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1. 命名可行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D8E9-1CD4-4CE7-A77F-4381C807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“机制驱动的 VWD 智能体辅助分型/诊断系统”符合项目实质；建议强调 research prototype / decision support。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036E9-AD93-4772-9E3D-EBE9BA9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8"/>
          </a:solidFill>
          <a:ln xmlns:a="http://schemas.openxmlformats.org/drawingml/2006/main" w="9525">
            <a:solidFill>
              <a:srgbClr val="BBE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250A8-AC1F-4539-8633-56CCCED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A"/>
                </a:solidFill>
              </a:defRPr>
            </a:pPr>
            <a:r>
              <a:rPr sz="1800" b="1">
                <a:solidFill>
                  <a:srgbClr val="168A5A"/>
                </a:solidFill>
              </a:rPr>
              <a:t>2. 已有价值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1F14-49DF-43C8-BEBB-C65C779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删掉 hotspot 后系统更干净；2M MD rescue 更可信，但 2B recall 暴露出缺少 force-release/GOF 动态证据。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00EB7-51BD-459A-BC6D-5F3571E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5F630-BB82-4A89-AEAB-42DCF8C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3. 下一步明确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4EF5E-E66F-41B4-8AFF-EACE0F3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补 Type 1/3、重构 A1 score fusion、扩大 2M LOF 与 2A/2N 机制特征，是提升 recall 的主路径。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32EE3-76B2-41E6-A23A-7119C0A2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This deck is editable; numbers reflect the latest local Eval artifacts on 2026-06-29.</a:t>
            </a:r>
          </a:p>
        </p:txBody>
      </p:sp>
    </p:spTree>
    <p:extLst>
      <p:ext uri="{BB962C8B-B14F-4D97-AF65-F5344CB8AC3E}">
        <p14:creationId xmlns:p14="http://schemas.microsoft.com/office/powerpoint/2010/main" val="372270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2026-06-29T09:05:16.3290000Z</dcterms:created>
  <dcterms:modified xsi:type="dcterms:W3CDTF">2026-06-29T09:05:16.3290000Z</dcterms:modified>
</coreProperties>
</file>