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2ad246a2f54da1" /><Relationship Type="http://schemas.openxmlformats.org/officeDocument/2006/relationships/extended-properties" Target="/docProps/app.xml" Id="R2c3c50b8446a4902" /><Relationship Type="http://schemas.openxmlformats.org/officeDocument/2006/relationships/officeDocument" Target="/ppt/presentation.xml" Id="R2640d8e6e91247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2918b200ea4bf8"/>
  </p:sldMasterIdLst>
  <p:notesMasterIdLst>
    <p:notesMasterId xmlns:r="http://schemas.openxmlformats.org/officeDocument/2006/relationships" r:id="Ra39c386b27b2483d"/>
  </p:notesMasterIdLst>
  <p:sldIdLst>
    <p:sldId xmlns:r="http://schemas.openxmlformats.org/officeDocument/2006/relationships" id="256" r:id="R488e6c68ad284763"/>
    <p:sldId xmlns:r="http://schemas.openxmlformats.org/officeDocument/2006/relationships" id="257" r:id="R7bc19a08fc8d426e"/>
    <p:sldId xmlns:r="http://schemas.openxmlformats.org/officeDocument/2006/relationships" id="258" r:id="R1bc4e8e23be64dfb"/>
    <p:sldId xmlns:r="http://schemas.openxmlformats.org/officeDocument/2006/relationships" id="259" r:id="R49a4970dce0f4f43"/>
    <p:sldId xmlns:r="http://schemas.openxmlformats.org/officeDocument/2006/relationships" id="260" r:id="Rc678463fa6b24541"/>
    <p:sldId xmlns:r="http://schemas.openxmlformats.org/officeDocument/2006/relationships" id="261" r:id="R70f696402e6d4961"/>
    <p:sldId xmlns:r="http://schemas.openxmlformats.org/officeDocument/2006/relationships" id="262" r:id="Rdc37db6b79c748db"/>
    <p:sldId xmlns:r="http://schemas.openxmlformats.org/officeDocument/2006/relationships" id="263" r:id="R2598a64c788b43bf"/>
    <p:sldId xmlns:r="http://schemas.openxmlformats.org/officeDocument/2006/relationships" id="264" r:id="R9d7ccea63e104b55"/>
    <p:sldId xmlns:r="http://schemas.openxmlformats.org/officeDocument/2006/relationships" id="265" r:id="R013a9befb3e44575"/>
    <p:sldId xmlns:r="http://schemas.openxmlformats.org/officeDocument/2006/relationships" id="266" r:id="Rc3f22b1bff464598"/>
    <p:sldId xmlns:r="http://schemas.openxmlformats.org/officeDocument/2006/relationships" id="267" r:id="R7e3637eaedd04ea6"/>
    <p:sldId xmlns:r="http://schemas.openxmlformats.org/officeDocument/2006/relationships" id="268" r:id="R78099a39a5b74ee6"/>
    <p:sldId xmlns:r="http://schemas.openxmlformats.org/officeDocument/2006/relationships" id="269" r:id="R20b753523cd84da0"/>
    <p:sldId xmlns:r="http://schemas.openxmlformats.org/officeDocument/2006/relationships" id="270" r:id="R703c278fbdcb44ab"/>
    <p:sldId xmlns:r="http://schemas.openxmlformats.org/officeDocument/2006/relationships" id="271" r:id="Ra4594b0a849d4a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28c3f522a74f26" /><Relationship Type="http://schemas.openxmlformats.org/officeDocument/2006/relationships/slideMaster" Target="/ppt/slideMasters/slideMaster1.xml" Id="Rfc2918b200ea4bf8" /><Relationship Type="http://schemas.openxmlformats.org/officeDocument/2006/relationships/notesMaster" Target="/ppt/notesMasters/notesMaster1.xml" Id="Ra39c386b27b2483d" /><Relationship Type="http://schemas.openxmlformats.org/officeDocument/2006/relationships/presProps" Target="/ppt/presProps.xml" Id="Rb6935d5b1e67455e" /><Relationship Type="http://schemas.openxmlformats.org/officeDocument/2006/relationships/tableStyles" Target="/ppt/tableStyles.xml" Id="R3f19a4a39f824c5b" /><Relationship Type="http://schemas.openxmlformats.org/officeDocument/2006/relationships/slide" Target="/ppt/slides/slide1.xml" Id="R488e6c68ad284763" /><Relationship Type="http://schemas.openxmlformats.org/officeDocument/2006/relationships/slide" Target="/ppt/slides/slide2.xml" Id="R7bc19a08fc8d426e" /><Relationship Type="http://schemas.openxmlformats.org/officeDocument/2006/relationships/slide" Target="/ppt/slides/slide3.xml" Id="R1bc4e8e23be64dfb" /><Relationship Type="http://schemas.openxmlformats.org/officeDocument/2006/relationships/slide" Target="/ppt/slides/slide4.xml" Id="R49a4970dce0f4f43" /><Relationship Type="http://schemas.openxmlformats.org/officeDocument/2006/relationships/slide" Target="/ppt/slides/slide5.xml" Id="Rc678463fa6b24541" /><Relationship Type="http://schemas.openxmlformats.org/officeDocument/2006/relationships/slide" Target="/ppt/slides/slide6.xml" Id="R70f696402e6d4961" /><Relationship Type="http://schemas.openxmlformats.org/officeDocument/2006/relationships/slide" Target="/ppt/slides/slide7.xml" Id="Rdc37db6b79c748db" /><Relationship Type="http://schemas.openxmlformats.org/officeDocument/2006/relationships/slide" Target="/ppt/slides/slide8.xml" Id="R2598a64c788b43bf" /><Relationship Type="http://schemas.openxmlformats.org/officeDocument/2006/relationships/slide" Target="/ppt/slides/slide9.xml" Id="R9d7ccea63e104b55" /><Relationship Type="http://schemas.openxmlformats.org/officeDocument/2006/relationships/slide" Target="/ppt/slides/slide10.xml" Id="R013a9befb3e44575" /><Relationship Type="http://schemas.openxmlformats.org/officeDocument/2006/relationships/slide" Target="/ppt/slides/slide11.xml" Id="Rc3f22b1bff464598" /><Relationship Type="http://schemas.openxmlformats.org/officeDocument/2006/relationships/slide" Target="/ppt/slides/slide12.xml" Id="R7e3637eaedd04ea6" /><Relationship Type="http://schemas.openxmlformats.org/officeDocument/2006/relationships/slide" Target="/ppt/slides/slide13.xml" Id="R78099a39a5b74ee6" /><Relationship Type="http://schemas.openxmlformats.org/officeDocument/2006/relationships/slide" Target="/ppt/slides/slide14.xml" Id="R20b753523cd84da0" /><Relationship Type="http://schemas.openxmlformats.org/officeDocument/2006/relationships/slide" Target="/ppt/slides/slide15.xml" Id="R703c278fbdcb44ab" /><Relationship Type="http://schemas.openxmlformats.org/officeDocument/2006/relationships/slide" Target="/ppt/slides/slide16.xml" Id="Ra4594b0a849d4a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28bab0cfd646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dcfc68e01d4d57" /><Relationship Type="http://schemas.openxmlformats.org/officeDocument/2006/relationships/notesMaster" Target="/ppt/notesMasters/notesMaster1.xml" Id="R70cf9dcc805c4b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42b2ec0c2747cf" /><Relationship Type="http://schemas.openxmlformats.org/officeDocument/2006/relationships/notesMaster" Target="/ppt/notesMasters/notesMaster1.xml" Id="R759fe2e4f9394c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2a8dc4ae3a48ba" /><Relationship Type="http://schemas.openxmlformats.org/officeDocument/2006/relationships/notesMaster" Target="/ppt/notesMasters/notesMaster1.xml" Id="R495a5a101d4147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3574576d084d8f" /><Relationship Type="http://schemas.openxmlformats.org/officeDocument/2006/relationships/notesMaster" Target="/ppt/notesMasters/notesMaster1.xml" Id="Rca786cc8206c4d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c7d59b57a54736" /><Relationship Type="http://schemas.openxmlformats.org/officeDocument/2006/relationships/notesMaster" Target="/ppt/notesMasters/notesMaster1.xml" Id="R9372582a10b642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dd58bbd7df4dd6" /><Relationship Type="http://schemas.openxmlformats.org/officeDocument/2006/relationships/notesMaster" Target="/ppt/notesMasters/notesMaster1.xml" Id="R83c988d007a549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a2df42f3434457" /><Relationship Type="http://schemas.openxmlformats.org/officeDocument/2006/relationships/notesMaster" Target="/ppt/notesMasters/notesMaster1.xml" Id="R9403947d39b542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5ecd95e3324887" /><Relationship Type="http://schemas.openxmlformats.org/officeDocument/2006/relationships/notesMaster" Target="/ppt/notesMasters/notesMaster1.xml" Id="Raaabd9590b334a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a91339242a40ad" /><Relationship Type="http://schemas.openxmlformats.org/officeDocument/2006/relationships/notesMaster" Target="/ppt/notesMasters/notesMaster1.xml" Id="Rbd2df5711dbf47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c687a01ed94728" /><Relationship Type="http://schemas.openxmlformats.org/officeDocument/2006/relationships/notesMaster" Target="/ppt/notesMasters/notesMaster1.xml" Id="Rec58a2f47fd149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6255ed52104d41" /><Relationship Type="http://schemas.openxmlformats.org/officeDocument/2006/relationships/notesMaster" Target="/ppt/notesMasters/notesMaster1.xml" Id="R9259bd2444ae4b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c9ed81f33d4376" /><Relationship Type="http://schemas.openxmlformats.org/officeDocument/2006/relationships/notesMaster" Target="/ppt/notesMasters/notesMaster1.xml" Id="Re9cc417aa53a44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e016a84f6740cf" /><Relationship Type="http://schemas.openxmlformats.org/officeDocument/2006/relationships/notesMaster" Target="/ppt/notesMasters/notesMaster1.xml" Id="R5032c29004ae44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e62ac46c0343a5" /><Relationship Type="http://schemas.openxmlformats.org/officeDocument/2006/relationships/notesMaster" Target="/ppt/notesMasters/notesMaster1.xml" Id="R9be1a6130ef94ce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417c884663433a" /><Relationship Type="http://schemas.openxmlformats.org/officeDocument/2006/relationships/notesMaster" Target="/ppt/notesMasters/notesMaster1.xml" Id="R23282aa20a274d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1103094d634240" /><Relationship Type="http://schemas.openxmlformats.org/officeDocument/2006/relationships/notesMaster" Target="/ppt/notesMasters/notesMaster1.xml" Id="R9ddd8b62ff2c4b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0216d150ea49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00234fe6ff4981" /><Relationship Type="http://schemas.openxmlformats.org/officeDocument/2006/relationships/slideLayout" Target="/ppt/slideLayouts/slideLayout1.xml" Id="R016f649baa9c41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6f649baa9c41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a58196c5c4e16" /><Relationship Type="http://schemas.openxmlformats.org/officeDocument/2006/relationships/notesSlide" Target="/ppt/notesSlides/notesSlide1.xml" Id="Rb483edef0a944f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181238afe4c43" /><Relationship Type="http://schemas.openxmlformats.org/officeDocument/2006/relationships/notesSlide" Target="/ppt/notesSlides/notesSlide2.xml" Id="Rbc1eddcec7e245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59ee1ecd74011" /><Relationship Type="http://schemas.openxmlformats.org/officeDocument/2006/relationships/chart" Target="/ppt/slides/charts/chart1.xml" Id="R3da428b240fa4a05" /><Relationship Type="http://schemas.openxmlformats.org/officeDocument/2006/relationships/notesSlide" Target="/ppt/notesSlides/notesSlide3.xml" Id="Rbe9cca0dca5e4e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c783f4b8d4aac" /><Relationship Type="http://schemas.openxmlformats.org/officeDocument/2006/relationships/chart" Target="/ppt/slides/charts/chart2.xml" Id="Rc0258df0275f4443" /><Relationship Type="http://schemas.openxmlformats.org/officeDocument/2006/relationships/notesSlide" Target="/ppt/notesSlides/notesSlide4.xml" Id="R3e1f6dcca13d4a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068762b384716" /><Relationship Type="http://schemas.openxmlformats.org/officeDocument/2006/relationships/notesSlide" Target="/ppt/notesSlides/notesSlide5.xml" Id="R059023fb8c5540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2f4312496401c" /><Relationship Type="http://schemas.openxmlformats.org/officeDocument/2006/relationships/notesSlide" Target="/ppt/notesSlides/notesSlide6.xml" Id="Raa397a5231154b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530bfe6b3423f" /><Relationship Type="http://schemas.openxmlformats.org/officeDocument/2006/relationships/notesSlide" Target="/ppt/notesSlides/notesSlide7.xml" Id="Rbf8d580b76a541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b8d4183c84395" /><Relationship Type="http://schemas.openxmlformats.org/officeDocument/2006/relationships/notesSlide" Target="/ppt/notesSlides/notesSlide8.xml" Id="Raa10628bd06440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036b4f26949c8" /><Relationship Type="http://schemas.openxmlformats.org/officeDocument/2006/relationships/notesSlide" Target="/ppt/notesSlides/notesSlide9.xml" Id="R440a7f5bbf6f40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2f1f51859414b" /><Relationship Type="http://schemas.openxmlformats.org/officeDocument/2006/relationships/notesSlide" Target="/ppt/notesSlides/notesSlide10.xml" Id="R2a844bc1675745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26f37c2d4404c" /><Relationship Type="http://schemas.openxmlformats.org/officeDocument/2006/relationships/notesSlide" Target="/ppt/notesSlides/notesSlide11.xml" Id="R52a79904e0854f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39278f7b84d2b" /><Relationship Type="http://schemas.openxmlformats.org/officeDocument/2006/relationships/notesSlide" Target="/ppt/notesSlides/notesSlide12.xml" Id="R27dacb6c532c471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f04ceb0154c97" /><Relationship Type="http://schemas.openxmlformats.org/officeDocument/2006/relationships/notesSlide" Target="/ppt/notesSlides/notesSlide13.xml" Id="R14cb37a4d38746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c4b74508e4639" /><Relationship Type="http://schemas.openxmlformats.org/officeDocument/2006/relationships/notesSlide" Target="/ppt/notesSlides/notesSlide14.xml" Id="R0363da2b68b24e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ed48fdb6a4d7a" /><Relationship Type="http://schemas.openxmlformats.org/officeDocument/2006/relationships/notesSlide" Target="/ppt/notesSlides/notesSlide15.xml" Id="R32422951d68246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c0578438547f5" /><Relationship Type="http://schemas.openxmlformats.org/officeDocument/2006/relationships/notesSlide" Target="/ppt/notesSlides/notesSlide16.xml" Id="R9fb6498bf9774b36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样本数</c:v>
          </c:tx>
          <c:spPr>
            <a:solidFill xmlns:a="http://schemas.openxmlformats.org/drawingml/2006/main">
              <a:srgbClr val="2563E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6"/>
              <c:pt idx="0">
                <c:v>1</c:v>
              </c:pt>
              <c:pt idx="1">
                <c:v>2A</c:v>
              </c:pt>
              <c:pt idx="2">
                <c:v>2B</c:v>
              </c:pt>
              <c:pt idx="3">
                <c:v>2M</c:v>
              </c:pt>
              <c:pt idx="4">
                <c:v>2N</c:v>
              </c:pt>
              <c:pt idx="5">
                <c:v>3*</c:v>
              </c:pt>
            </c:strLit>
          </c:cat>
          <c:val>
            <c:numLit>
              <c:formatCode>General</c:formatCode>
              <c:ptCount val="6"/>
              <c:pt idx="0">
                <c:v>115</c:v>
              </c:pt>
              <c:pt idx="1">
                <c:v>118</c:v>
              </c:pt>
              <c:pt idx="2">
                <c:v>38</c:v>
              </c:pt>
              <c:pt idx="3">
                <c:v>53</c:v>
              </c:pt>
              <c:pt idx="4">
                <c:v>16</c:v>
              </c:pt>
              <c:pt idx="5">
                <c:v>44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DE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Recall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2A</c:v>
              </c:pt>
              <c:pt idx="1">
                <c:v>2B</c:v>
              </c:pt>
              <c:pt idx="2">
                <c:v>2M</c:v>
              </c:pt>
              <c:pt idx="3">
                <c:v>2N</c:v>
              </c:pt>
            </c:strLit>
          </c:cat>
          <c:val>
            <c:numLit>
              <c:formatCode>General</c:formatCode>
              <c:ptCount val="4"/>
              <c:pt idx="0">
                <c:v>59.3</c:v>
              </c:pt>
              <c:pt idx="1">
                <c:v>39.5</c:v>
              </c:pt>
              <c:pt idx="2">
                <c:v>47.2</c:v>
              </c:pt>
              <c:pt idx="3">
                <c:v>75</c:v>
              </c:pt>
            </c:numLit>
          </c:val>
        </c:ser>
        <c:ser>
          <c:idx val="1"/>
          <c:order val="1"/>
          <c:tx>
            <c:v>Precision</c:v>
          </c:tx>
          <c:spPr>
            <a:solidFill xmlns:a="http://schemas.openxmlformats.org/drawingml/2006/main">
              <a:srgbClr val="2563E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2A</c:v>
              </c:pt>
              <c:pt idx="1">
                <c:v>2B</c:v>
              </c:pt>
              <c:pt idx="2">
                <c:v>2M</c:v>
              </c:pt>
              <c:pt idx="3">
                <c:v>2N</c:v>
              </c:pt>
            </c:strLit>
          </c:cat>
          <c:val>
            <c:numLit>
              <c:formatCode>General</c:formatCode>
              <c:ptCount val="4"/>
              <c:pt idx="0">
                <c:v>93.3</c:v>
              </c:pt>
              <c:pt idx="1">
                <c:v>88.2</c:v>
              </c:pt>
              <c:pt idx="2">
                <c:v>89.3</c:v>
              </c:pt>
              <c:pt idx="3">
                <c:v>30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DE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8102D9-8327-4308-A23A-9179905E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8191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以机制驱动的 VWD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0AC6B-F24A-4C81-8719-FB135E2F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962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智能体辅助分型/诊断系统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855CF-A0CA-432C-9A6A-C4FF6033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336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</a:defRPr>
            </a:pPr>
            <a:r>
              <a:rPr sz="1725" b="0">
                <a:solidFill>
                  <a:srgbClr val="555555"/>
                </a:solidFill>
              </a:rPr>
              <a:t>研究原型 · 面向 VWF 变异的可解释 subtype 证据融合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CBDA9-F7CA-44C5-9CD5-F17954AF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80505-04E3-442E-89F3-7F9B6CE2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563EB"/>
                </a:solidFill>
              </a:defRPr>
            </a:pPr>
            <a:r>
              <a:rPr sz="3150" b="1">
                <a:solidFill>
                  <a:srgbClr val="2563EB"/>
                </a:solidFill>
              </a:rPr>
              <a:t>340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4B9F5-CA09-408F-BA37-CEF4A64B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43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最新实际 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B6752-3463-4AB7-8265-6C4DBBAD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Type 1 + Type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DEBFFB-2BEE-4EE7-99B0-845397D4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225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677F7-9A7A-4871-BAD2-1583F47C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43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2643D1-38B0-405C-94B2-BFC957FB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101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2A/2B/2M/2N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4106A-F5E4-415B-BCEC-7BD064A2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1910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54.2%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F15B1-8456-4ABF-9514-4CF1C598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743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684F9-F8FC-4B34-8846-37A8A597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101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no hotspot prior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A2622-5EC8-4EEC-BCBB-3668339F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8A5A"/>
                </a:solidFill>
              </a:defRPr>
            </a:pPr>
            <a:r>
              <a:rPr sz="3150" b="1">
                <a:solidFill>
                  <a:srgbClr val="168A5A"/>
                </a:solidFill>
              </a:rPr>
              <a:t>机制补全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9FD8A-2211-4AF8-B879-2BD266FC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434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下一阶段目标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7A481E-4B3F-4F2C-97FC-B72BEDE7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Type 1/3 + 2M/2A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59784-6F11-4A20-8598-807D4420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Mechanism-driven VWD agentic decision-support system; diagnosis remains clinician-confirmed.</a:t>
            </a:r>
          </a:p>
        </p:txBody>
      </p:sp>
    </p:spTree>
    <p:extLst>
      <p:ext uri="{BB962C8B-B14F-4D97-AF65-F5344CB8AC3E}">
        <p14:creationId xmlns:p14="http://schemas.microsoft.com/office/powerpoint/2010/main" val="2128974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700C2C-45AF-4E90-BDFF-F8C67DBE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为什么叫“机制驱动”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6169F-3E3C-497A-AEA2-3655097C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VWD 的临床 subtype 本身就是病理机制标签；系统目标不是黑箱分类，而是把证据按机制归位。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E1D33-67F3-45AE-BF2A-F175DE37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97D9E-6A24-4E3F-81A8-48C7AD6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42556-004C-445A-95A2-FFEC11B3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C5952-AA86-4F82-B1BE-E77821A4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7145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临床/病理定义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E99093-A33A-494A-B30B-5FE5C405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7145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对应机制轴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723E9-9D88-4D2C-AB1A-F8F2720D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46D38-E093-4012-9A22-7FCC70D5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478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Type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8292F-AFF5-40D6-B5D4-18C46554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478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部分定量缺乏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E2C9E-4144-4A13-81F4-1FC9E97F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478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VWF 水平/分泌/清除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7051F-EEE9-48E1-AFC6-42422126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DE267-AEBD-446D-B7E1-8167E319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622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Type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88CB2-2006-4E38-ABF1-8844A8DE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5622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几乎完全缺乏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48721-4AFB-4457-B4D5-5B17A66D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622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null / biallelic / severe deficiency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DAC379-72E3-43FF-BA8F-8971C722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0574C-8384-4243-890F-57F61C84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D920E-EA97-4AAC-8DD0-5830F5B9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765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高分子多聚体减少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F41917-45B5-4090-A9E5-9FD89C6B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A2 稳定性、ADAMTS13、多聚化/分泌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F3BE16-3C3D-422E-9B0A-E253E449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82F1EF-B442-48CB-A6F3-0A59A478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909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FC7034-8341-4E62-9E61-0A82078D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909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A1-GPIb gain-of-function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50BA2-F094-451E-AF13-44FF9728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909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AIM 自抑制松开且结合面保留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0AD962-9E3E-486A-A57B-E5F8C34B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15B4FF-3809-4893-B3BE-45FFFA5B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CC58B9-4ADD-45F4-8F43-034A5D81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0527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功能下降但多聚体保留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16732A-4E0F-422F-BFF6-8549C21A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10527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A1-GPIb LOF 或胶原结合 LOF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C80ABB-061E-4F20-86BF-0FCE4EB8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6B7B25-E96E-4529-946D-CCE9C3D1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96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B7C4E1-AF82-4781-ABD5-23F63AD1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196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FVIII 结合下降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18B629-11C7-4DF3-A992-7C767041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19625"/>
            <a:ext cx="3276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D'/D3-FVIII binding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07D701-5BD5-4419-98FE-0FD15F96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BF7DFC-8650-4850-AFA8-3B08FEDA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核心优点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BFA20B-E863-4F6F-8786-8F16ACF6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247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知道缺什么：每个 subtype 可追溯到具体功能轴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知道错在哪：错误 case 能落到机制冲突或证据缺失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知道怎么补：Boltz/AF3/MD/SMD 分别服务不同机制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避免只看总 accuracy 的假安全感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71F84F-846E-4F38-B894-73CA0DE5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 basis: ASH/ISTH/NHF/WFH diagnosis guideline; Haematologica 2026 classification review.</a:t>
            </a:r>
          </a:p>
        </p:txBody>
      </p:sp>
    </p:spTree>
    <p:extLst>
      <p:ext uri="{BB962C8B-B14F-4D97-AF65-F5344CB8AC3E}">
        <p14:creationId xmlns:p14="http://schemas.microsoft.com/office/powerpoint/2010/main" val="5192890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961ECA-6881-42F1-BEC7-F80BA386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最新 Eval 直接结果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2CE3B-E1A2-42F4-83C2-BD2001C7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不混历史数据：这里仅展示当前 pipeline 实际进入评估的 clean supported labels。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AFA61-0DE9-419C-8544-4A0037F1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6C6A3-C117-4BF1-A513-ABBCCD03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485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10C4C-E32F-4510-9516-881A0A12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真实标签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8DB88-F4D8-483F-ACCD-0E9B890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764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D9F69-C732-4692-B69C-D3D62010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676400"/>
            <a:ext cx="2609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当前状态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6C3EC-5BC2-4179-BF3C-DA809709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8E496-CD2F-456D-A57A-B327825A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F15A0A-23DE-4A71-9A52-0B959D1B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097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331265-6D23-4972-B0EA-52114D12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097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Eval；但 Type 1 规则尚不完整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73F72-FEAC-4C67-BA1E-7AC36BB4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384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5BDB94-94B0-42B9-8626-F2A3E35C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2C9FC-FC27-40C6-BBDE-BE3926AC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5241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9DEBF-3448-4C92-8E98-1B6BC9BD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241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15CE5-722A-4D30-98B6-084AC623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F9EE0-5D27-4271-90E1-9036837F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384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ABB8C-C172-4907-B9A4-8ED097FC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384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38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1F005-D72A-4327-BBE7-9A0B6CFD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F4FAA-119B-45DC-8338-825E9830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BF3005-71CB-487A-9CB2-2097A294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28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5B3C6-04E7-4419-BCE4-AA21662A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5528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91443F-826E-42B0-B639-514CE684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7D1683-6489-4B48-8E3C-1CC7F3D9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B413A-6A71-40EA-BE8D-7F309764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6717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8FC08D-ABB9-43CC-A574-E0C12110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6717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B6AE82-13D2-4270-93C3-5737BD3A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671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进入 Eval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1CB2BE-3D35-4ABA-863F-905BA02D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6E702A-9299-4B72-A69E-43012C4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1085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5CB0C-B255-4AFA-84BF-EF2FD676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81525"/>
            <a:ext cx="704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2DB5F3-02E6-434B-87CD-1729C22F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815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干净库存存在；当前分类器未纳入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6096000" y="16002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a428b240fa4a05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B28568-605D-4A8D-9162-71A581D4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9530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* Type 3 尚未进入本轮 recall/precision 计算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EADF4-8ADC-4461-AD35-0F8EBAAE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artifact: output/type2m_lof_md_fast_validation_2026-06-29/eval_with_fast_md/eval_v2_summary.csv</a:t>
            </a:r>
          </a:p>
        </p:txBody>
      </p:sp>
    </p:spTree>
    <p:extLst>
      <p:ext uri="{BB962C8B-B14F-4D97-AF65-F5344CB8AC3E}">
        <p14:creationId xmlns:p14="http://schemas.microsoft.com/office/powerpoint/2010/main" val="11457859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2A0428-A24F-4526-9D94-4F5041CC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Type 2: 去掉 hotspot 后，系统更干净但更保守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43E0E-A83F-4928-9966-AA6F500D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with MD + no hotspot prior 后，2B recall 下降，2M recall 上升；这暴露了真正需要动态 GOF 证据的缺口。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95D6C-A3A8-47F8-A503-472EEE1A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258df0275f444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E048F-4C3D-4BC6-9AB6-6919932E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122/225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CE3AD-7361-457C-8A52-94F1C6AC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288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Type 2 overall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ED03E-A39E-478B-BF21-D095E803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955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54.2%, uncertain=65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F2842-D454-4B82-9E6B-4D520B49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7637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8A5A"/>
                </a:solidFill>
              </a:defRPr>
            </a:pPr>
            <a:r>
              <a:rPr sz="3150" b="1">
                <a:solidFill>
                  <a:srgbClr val="168A5A"/>
                </a:solidFill>
              </a:rPr>
              <a:t>89.3%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1698C-5D05-4022-ADA6-99FD20CC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288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2M 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C6C72E-CA3C-46A3-B687-0BFC9F04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95525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判出来仍较干净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C82A2-5B8C-4F66-8AE5-5152BA03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4667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E816B3-577E-4871-BD96-2D1650F4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476625"/>
            <a:ext cx="419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2B: recall 明显下降 = 之前确实依赖位置先验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2M: recall 小幅上升 = G1324R/A1377V 不再被位置先验截走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2N: recall 还行，但 precision 低 = 很多 2A 被吸到 2N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• no-hotspot 版本降低循环证据和标签记忆风险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213C8-65A8-4F3F-AF83-6166D508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Precision from current Type 2 confusion matrix: predicted-class purity; recall from true-label recovery.</a:t>
            </a:r>
          </a:p>
        </p:txBody>
      </p:sp>
    </p:spTree>
    <p:extLst>
      <p:ext uri="{BB962C8B-B14F-4D97-AF65-F5344CB8AC3E}">
        <p14:creationId xmlns:p14="http://schemas.microsoft.com/office/powerpoint/2010/main" val="146215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04E5B5-15CD-450C-AF2C-EBA60751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错误结构：哪里漏、哪里误伤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FDB18-78D8-455B-AE84-8EC58193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这页用于解释为什么报告 recall/precision，而不是只给一个总体准确率。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9CA19-612C-4973-989D-61680A59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020E1-E6CE-40CA-B99A-535BE92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68F6C-D581-4C31-A4E3-7AEF2BD6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true \ pred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F93DE-EFD2-43B5-A64F-1E435D18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C26E1-C78C-484F-9232-78758399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CF1186-4A0D-45BA-A493-CDEFD99B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E8A7A-78B9-41D4-A7BF-AF4DCA16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9545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55901-FC40-4431-B038-57B429CB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6954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uncertain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0585D6-2A34-4020-AFEF-0A94CF2D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09F61-8A88-4112-A461-50D41FA2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4DE936-12DB-493F-B0ED-A237175E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70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C8F62-D87C-46C6-8700-FDC57316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1A22F-C311-4D20-BDA1-AAA72700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948743-B6C1-4A60-B520-4F7B0680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288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2410C"/>
                </a:solidFill>
              </a:defRPr>
            </a:pPr>
            <a:r>
              <a:rPr sz="1350" b="0">
                <a:solidFill>
                  <a:srgbClr val="C2410C"/>
                </a:solidFill>
              </a:rPr>
              <a:t>28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B3AA49-2621-4D83-841D-2D509F73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288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0DD342-F94E-499B-909A-CA1F2E81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B1235F-5928-4FBE-98A5-BB311E2D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AE4EBF-CEF6-4165-BA55-B82F9066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796108-D2C3-4A8A-B13C-FAF43668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AFEE73-3817-4C7B-B307-FD126E0F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1561EB-3107-48F6-A118-273053D0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860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FFD67-18A8-41FE-B861-96DFE4EA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860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CD216-91EC-48A5-BE21-9D1D196A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4BE83F-30B5-4AA7-84ED-18A15A22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888BC4-12B3-4733-BB02-9915C4C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CC3EE3-F29D-4248-9BA2-7DA39F1C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2C0B17-9894-43B3-812E-9D9A338C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25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E85A5-53BC-4AFC-837D-C62904C9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432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9CF95D-6361-4F21-8318-36E56822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432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2410C"/>
                </a:solidFill>
              </a:defRPr>
            </a:pPr>
            <a:r>
              <a:rPr sz="1350" b="0">
                <a:solidFill>
                  <a:srgbClr val="C2410C"/>
                </a:solidFill>
              </a:rPr>
              <a:t>28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7A005F-B70A-4A04-8325-F6B6E125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590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B6607-9469-434F-A1FE-385D809F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18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047A9A-4F84-4BFE-B508-A9A7D971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CB1D50-943D-4DAA-A380-6F2970AB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4E103A-7210-4111-B067-B27DC22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33946A-94C2-406B-801F-C5AABD7B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00425"/>
            <a:ext cx="704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A5A"/>
                </a:solidFill>
              </a:defRPr>
            </a:pPr>
            <a:r>
              <a:rPr sz="1350" b="1">
                <a:solidFill>
                  <a:srgbClr val="168A5A"/>
                </a:solidFill>
              </a:rPr>
              <a:t>12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1FD307-4C69-423E-97D4-275AF504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0042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E5C8B4-B9D7-4DDB-94B8-CB6D8B4D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002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三个直接结论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776B81-2E7B-4CFE-BB95-1FB439BB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14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2M 最大问题仍是漏：28/53 仍 uncertain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2B 最大问题变成保守：19/38 uncertain，3/38 被误判 2M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• 2A 最大问题是被 2N 规则吸走：28 例 2A→2N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AF5992-C175-4A49-80F1-9BA451AD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05250"/>
            <a:ext cx="3714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1675F0-91AC-4F11-831E-0ED0D3E7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14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评估边界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776E90-3D7B-47D9-BF94-B0A6FAD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386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当前模型应定位为 Type 2 机制分型原型；Type 1/3 补齐前不报告全分型 global accuracy。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721AE1-1A61-47B9-8330-7B996942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artifact: eval_v2_type2_confusion_with_md.csv</a:t>
            </a:r>
          </a:p>
        </p:txBody>
      </p:sp>
    </p:spTree>
    <p:extLst>
      <p:ext uri="{BB962C8B-B14F-4D97-AF65-F5344CB8AC3E}">
        <p14:creationId xmlns:p14="http://schemas.microsoft.com/office/powerpoint/2010/main" val="19653428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308102-72E1-4C54-87AA-80C03514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Case 正例：L1276P 从 uncertain 被 MD 救回 2M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E0BD9-9626-4C5D-B595-1BDC092E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这页把每个指标、计算方式和 MD 补足的盲区讲清楚。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5B878-8B94-487F-838A-1A4B7D91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F56CF-463B-487D-B19F-9C5EA012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EF36B-D247-4095-9E4D-0F39635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8ED72-C0CB-4689-B7D8-BD31796E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39047-15DE-47B8-8F11-4063B4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Boltz 静态结构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7B4F6-0604-405B-8CDD-E3050FB5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92E5D1-B776-4570-B822-BCB966B7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规则融合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2C73D-3287-4058-A250-B7A29FE5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53D38-37D2-4D26-8DD1-125C269D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Equilibrium 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1F0152-1CD2-400C-B90E-5129A45C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04950"/>
            <a:ext cx="1714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43EDC-68FD-41A9-AC50-A956E4A8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63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输出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A2E1B-875B-4F05-92D6-EF6174FA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A2324-62E5-4345-9E97-B08F5C3F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FC87DC-43B2-4432-9E19-6F9A0C19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1076A2-BD9B-4504-8ACC-4CAB8ABC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09775"/>
            <a:ext cx="4000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89C57-F9EA-40E2-8FCA-544D4C99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aa_change=L1276P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domain, pos=1276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no position prior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16069A-6B2F-4B37-97D9-5A6F4018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fb z=+0.25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heparan z=+1.16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aim static=-0.50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F7F488-DB9E-41D8-B799-40111E85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no MD: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方向证据弱</a:t>
            </a:r>
          </a:p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→ uncertain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9033E-E3C7-49C3-AAF4-F8B93755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09750"/>
            <a:ext cx="146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AIM-A1 contacts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0-5ns: 146.8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40-50ns: 112.8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loss=34.0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89078-C8A8-4CF4-81C7-AD37345E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859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pred=2M</a:t>
            </a:r>
          </a:p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conf=0.55</a:t>
            </a:r>
          </a:p>
          <a:p xmlns:a="http://schemas.openxmlformats.org/drawingml/2006/main">
            <a:pPr algn="l">
              <a:defRPr sz="975" b="0">
                <a:solidFill>
                  <a:srgbClr val="168A5A"/>
                </a:solidFill>
              </a:defRPr>
            </a:pPr>
            <a:r>
              <a:rPr sz="975" b="0">
                <a:solidFill>
                  <a:srgbClr val="168A5A"/>
                </a:solidFill>
              </a:rPr>
              <a:t>MD LOF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5B784-F02F-48F2-956F-A5F55BF4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36964B-1A25-4FFC-B2B6-FDBC3B74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指标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92CCCE-D9DD-4B46-92A0-6F17B3CF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43250"/>
            <a:ext cx="441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怎么算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2B7A07-DD19-4E7B-8F1C-45100683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403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本 case 含义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8A0055-3A9C-4751-8151-8DD15FAD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7B6B4-6C13-4901-9311-49521768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fb_binding_zscore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FD6093-677B-4D60-A488-7D282089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76625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Boltz A1+GPIb complex primary score 的变体-同轴分布 z-score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B42C95-C486-40EB-8026-B703D91D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76625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+0.25：不支持明显 GPIb 结合丢失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CD81C9-4CA4-4814-AFAB-C715F48C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00475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FE003A-3550-4162-A3B3-3887F110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heparan_zscore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A6A614-1E2D-494D-8E95-ABCEB849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86200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Boltz A1+heparan model 同法转 z-score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D5634D-E8BA-4980-9051-4E82FCF9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86200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+1.16：静态表面轴不支持 LOF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62A27D-65C5-4692-9C3F-ABB4C267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636AAA-92E2-483A-9D19-058B61CA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position prior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A37921-1E96-465E-8F32-3D025337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95775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已从分类器移除；不再用 recurrent residue 直接判 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1FF310-7CC0-4CE9-A52D-D3F51398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95775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避免标签记忆/审稿质疑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E7FE04-86E4-4AD4-A8A5-E16130FD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9625"/>
            <a:ext cx="10572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C9F7A6-A975-45DB-889D-8C5D3B6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05350"/>
            <a:ext cx="1657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md_face_destab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BB351D-433C-4A70-850A-D0E635FC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05350"/>
            <a:ext cx="441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(0-5ns contacts − 40-50ns contacts) / 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1B4379-A856-4C35-8A0E-B068F5BF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05350"/>
            <a:ext cx="403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1.701：tail 接触显著下降，支持 2M LOF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E6E4D4-6271-4502-8555-958BF47C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MD 补的盲区：Boltz 给的是静态复合体置信/结合 proxy，不能看到 closed-state A1 结合面在水环境中是否随时间塌陷；equilibrium MD 用 tail window 观察接触网络保留，给出动态稳定性证据。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CE0BC5-8038-47A4-BF8A-CDBB1AE7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Position/recurrent-residue prior removed after leakage-risk audit. Sources for mechanism context only: ASH/ISTH/NHF/WFH 2021; PDB 7A6O/Nat Commun 2021.</a:t>
            </a:r>
          </a:p>
        </p:txBody>
      </p:sp>
    </p:spTree>
    <p:extLst>
      <p:ext uri="{BB962C8B-B14F-4D97-AF65-F5344CB8AC3E}">
        <p14:creationId xmlns:p14="http://schemas.microsoft.com/office/powerpoint/2010/main" val="18312246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004F7A-76C1-4FBA-B03A-5BD07D35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Case 负例：V1316M 显示 equilibrium MD 的歧义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DA3FC-B092-4A19-8A68-463D09A7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去掉 hotspot 后，不再位置记忆；但单一 equilibrium MD LOF 轴会误伤部分真实 2B。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E4D30-3BF9-483E-AED6-A4968592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78482-F4F9-44F8-B76A-95B5A6F2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DB3DA-593A-4441-AB47-F90C5089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字段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D7376-0608-4A3A-818C-8A889969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6002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8BF3E-1A7E-4440-A4CA-C7D9D1B2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4038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解释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30C30-F357-46B0-BE88-D1995253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403F76-95D2-440A-92CE-29322724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335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3FEB0B-4995-4749-9244-71CAD945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335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V1316M, A1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B0BCB2-9C88-47AF-B7CF-7CCF04D9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335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true label = 2B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70D64-4348-467F-A3E1-F40C18D2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826381-1D54-49F1-9466-D37C57FC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位置先验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41050-E3A5-4A31-8A65-1BF8B673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4288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已移除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16500F-7A02-40DE-BE72-A96F09B1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288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不再因为 recurrent residue 直接判 2B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C820E-1BF4-4219-95A2-98C4B8D9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5603B-DEFE-42DE-99CD-9F858C0E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Boltz 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C5602-A2AA-4354-9293-29DDB2F8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241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fb=-0.92, hep=-0.05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471B6-2872-4911-8F0B-23F48C00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241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未达到联合 LOF 阈值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A9263F-F0D2-4E7B-BB52-CD548C6D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C03393-F233-49E7-B70C-F2EAFAF2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MD 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A625AD-67A4-4408-92F3-FA3A5106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194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destab=1.158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51C8FB-0644-4ED3-AAC7-956DFE04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194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tail 接触下降，触发 2M soft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910ECA-AAA2-413B-9DCE-F8CDF1DF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752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63365-2F4C-4982-9B45-DFF75165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118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当前输出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34B27C-26D2-4042-A14F-254FFE15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914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2M, conf=0.55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82494-167B-408E-8BF3-93B2F879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14775"/>
            <a:ext cx="403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说明 equilibrium MD face-destab 不是纯 2M 特异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3F3B0B-936E-492B-BFF7-82C813B0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5CACAF-47A6-452F-AD13-B948868E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24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0C"/>
                </a:solidFill>
              </a:defRPr>
            </a:pPr>
            <a:r>
              <a:rPr sz="1800" b="1">
                <a:solidFill>
                  <a:srgbClr val="C2410C"/>
                </a:solidFill>
              </a:rPr>
              <a:t>错误归因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6F9625-1E79-4D4D-98AC-806530A9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619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平衡 MD 看不到受力 GOF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contact loss 也可能是 2B release-like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需要 SMD/force-release 轴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• 2M soft evidence 需加保护条件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39B075-A43A-4888-8235-32DC91A6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优化方向：A1 判断需要 2B_score 与 2M_score 证据竞争。2B_score 不能来自位置记忆，应来自 force-release/SMD、GPIb retained/increased 或独立 GOF 证据。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1F1795-5ACD-4FF5-91C8-9F809C5C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No-hotspot Eval: V1316M becomes true 2B → predicted 2M, exposing the need for a directional GOF dynamics axis.</a:t>
            </a:r>
          </a:p>
        </p:txBody>
      </p:sp>
    </p:spTree>
    <p:extLst>
      <p:ext uri="{BB962C8B-B14F-4D97-AF65-F5344CB8AC3E}">
        <p14:creationId xmlns:p14="http://schemas.microsoft.com/office/powerpoint/2010/main" val="3378217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D717A8-CCE7-4E93-81C1-20995A9D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系统实现：三层证据进入可解释智能体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04048-DEF9-4461-9F57-690237F6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分类器不看 subtype 标签；标签只在预测后用于 Eval。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693F4-E65C-4354-9C05-7C9BE114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66295-983E-4CAE-9595-55FD237A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14C34-F29F-448A-A609-4E08D880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1B0EAE-3B7F-4BB9-AB35-AA371E71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aa_change: L1276P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pos=1276, domain=A1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ref/alt amino acid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7B918-1BD2-4232-9A97-9446AAD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202A7-EFF2-45DA-A3F9-2301B7C2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80F15-2054-4B95-A102-6E4089EE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特征层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DB463-DE9A-4051-85BF-8F19B61D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AG: RNA/splice delta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Boltz: A1-GPIb, heparan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MD: contact tail features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511D3-6740-44D8-AD39-4F23F4EB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63C5D-90F9-4AF0-BE10-0343F8C9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7D7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6B602B-6B66-4FF0-88F6-60C13AD1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专家层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E788A-90C6-4C01-A14D-FA59543A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Structural Expert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Transcriptomic Expert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Clinical Geneticist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3BB012-6E68-41C3-BC9A-6309C82D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4A437-990E-4EFD-8146-51174760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20F79-6EA7-4F84-8217-526F2955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融合层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DECC4-1514-4E9A-A7A4-934C6682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interpretable rules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2B/2M directionality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uncertain allowed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3B9476-7C73-4FE8-85C8-A81D7EF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14625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3FDA9D-7D26-4044-8BEE-6FB6F5F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955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973422-FC14-4DBD-B449-056FEE17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86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B823DA-DAA2-4981-8B99-D5615D78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28900"/>
            <a:ext cx="1352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subtype: 2M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confidence: 0.55</a:t>
            </a:r>
          </a:p>
          <a:p xmlns:a="http://schemas.openxmlformats.org/drawingml/2006/main">
            <a:pPr algn="l">
              <a:defRPr sz="900" b="0">
                <a:solidFill>
                  <a:srgbClr val="111111"/>
                </a:solidFill>
              </a:defRPr>
            </a:pPr>
            <a:r>
              <a:rPr sz="900" b="0">
                <a:solidFill>
                  <a:srgbClr val="111111"/>
                </a:solidFill>
              </a:rPr>
              <a:t>• reasoning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A6AFEA-D50C-4BC8-8F18-814F0AAC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05300"/>
            <a:ext cx="952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0ADC83-2863-41A9-B68E-87F861D8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8A5A"/>
                </a:solidFill>
              </a:defRPr>
            </a:pPr>
            <a:r>
              <a:rPr sz="1725" b="1">
                <a:solidFill>
                  <a:srgbClr val="168A5A"/>
                </a:solidFill>
              </a:rPr>
              <a:t>无标签泄漏核实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758A6-B8DB-4B49-BB0B-7BB1EB5B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51485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evaluate_vwf_classifier_v2.py 把 true_label/type2_subtype 改成 LEAK_TEST 后，pred_with_md 完全不变；label_leak_test_pass=1。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4DE391-27C6-44C7-8384-9D6809C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Code refs: scripts/agentic_vwf_classifier.py; scripts/pipeline/evaluate_vwf_classifier_v2.py.</a:t>
            </a:r>
          </a:p>
        </p:txBody>
      </p:sp>
    </p:spTree>
    <p:extLst>
      <p:ext uri="{BB962C8B-B14F-4D97-AF65-F5344CB8AC3E}">
        <p14:creationId xmlns:p14="http://schemas.microsoft.com/office/powerpoint/2010/main" val="13628898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599A72-EF6A-4467-BCD3-723A025B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Boltz 特征怎么来：输入复合体，输出静态结构置信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485ED0-EFF9-4AB6-A20E-8E5CC8C3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Boltz 不是 MD，它预测一个静态复合体及相关 confidence/score。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56EF5-C782-4E6A-9CCB-BC1B97C7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2EE5A-85D1-42CD-B64B-8569B129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02C80A-5AE1-4F4E-9FE0-869F5079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Boltz 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D6DD5-EF21-409B-8837-867D6095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5049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我们输入什么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A0D30-CA01-42E4-BB54-BBD4BAF9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049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Boltz 输出什么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4E1C9-C5BD-4131-A948-BF2D4F9D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46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我们计算什么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A39F0-2F15-407B-AE39-63051B26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7645A2-40ED-429F-B93D-B5E1E580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3832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A1-GPIb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A5F96D-068F-41EE-9053-72CA0DD6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3832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WT/variant A1 + GPIbα 片段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1C23DA-9FB3-42F6-81AA-D5025FC3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3832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complex prediction；iPTM/pTM/pLDDT 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940DE8-9CB0-43B5-A3E7-BF47A66C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383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primary score 与 WT/同轴分布比较 → fb_binding_zscore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ADFA26-B328-426E-A1DD-DC06D3D6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076AC6-5CEF-4638-8078-0B00E94F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A1-heparan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C8C55-FBF1-4675-81BD-102BBFCD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9077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WT/variant A1 + heparan/heparin-like ligand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AEC4B7-7FEC-458E-82CE-F3B87F7E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9077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表面结合 context 置信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0C73AB-87BC-4D6E-8299-06ED0A33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907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同法得到 heparan_zscore；作为 A1 表面/结合面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A40444-E745-4DFB-93B5-08C76829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4F8FED-0FAE-4CF8-8024-7F464D43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4322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D'/D3-FVIII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96FC61-770D-4D8B-AE9C-4628379F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4322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D'/D3 + FVIII binding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A9D209-60B2-4447-B0C0-74FA2D4D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4322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复合体 interface confidence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88D62C-4393-468B-B45F-DA450BF4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432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FVIII 结合轴，用于 2N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8315AD-9377-4A58-9518-43F32F6E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1104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CEC9E-376D-41C6-8880-A28FF0DE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95675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A3-collagen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92AC92-1C1A-427E-BDF8-2CDCD413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 + collagen binding 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5EA558-A632-45FF-BFFC-CABE5C45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95675"/>
            <a:ext cx="2895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复合体 confidence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0DA9BE-8A8D-46D3-B5EB-E6190114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956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a3_collagen_zscore，用于 A3 型 2M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BA2824-C3E6-42B8-A6E5-8197B52D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981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26A615-34EB-4B45-BD7A-E8170E7E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解释边界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539570-9132-44D4-A36D-5FCCB1A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Boltz 适合问“这个突变是否让某个复合体静态结合/界面置信变差”；不适合直接问“受力后 AIM 会不会打开”或“40-50ns 后接触网络会不会塌陷”。这些属于 MD/SMD 的问题。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15AD3D-54FA-4C35-8CBB-DE2C79EC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Boltz-2 project/technical report; AF3/Boltz confidence metrics used here as proxies, not calibrated binding constants.</a:t>
            </a:r>
          </a:p>
        </p:txBody>
      </p:sp>
    </p:spTree>
    <p:extLst>
      <p:ext uri="{BB962C8B-B14F-4D97-AF65-F5344CB8AC3E}">
        <p14:creationId xmlns:p14="http://schemas.microsoft.com/office/powerpoint/2010/main" val="14745536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0194C-465A-4262-A4CA-5AD4CEF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缺口图谱：哪些能用 AG，哪些不能只靠 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32131-C659-47D5-B7F7-BAF94363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repo 记录：内皮细胞 CL:0000115 有 6 个有效模态；全组织模式可补 5 个表观模态。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A51B9-1CCD-4F49-AB4A-37F3DE7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F6BBE-5BA3-4513-BF6F-10945A53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1085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0C5DC-B92A-4208-8021-6234B561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A1117-8911-44D3-ACA4-5902C0AA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504950"/>
            <a:ext cx="518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现在主要缺什么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B6AE0C-88D5-47A6-8866-0AEECA3F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04950"/>
            <a:ext cx="422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优先补齐工具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AFD45-9230-4121-A19F-E10476BD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526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706F9-BD44-4469-AE51-98009F44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383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Type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A4C6B-69D3-4B9C-A34E-B28E7BD9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383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定量缺乏：表达/剪接可由 AG 辅助；分泌/清除/ER retention 不能由 AG 直接输出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1E850-0E00-4BBE-AD68-484BD128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383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AG RNA/splice/regulatory proxy + 结构稳定性/分泌 proxy + 临床 Ag/VWFpp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13744-98F7-4FB9-929C-8C97CF39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99D0D-4A10-4E80-B93B-ADA41918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084DCC-A9D4-41A0-9B0D-40DF1A23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3907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A2 unfolding、ADAMTS13 可及性、多聚体装配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92DD2-9BEB-4D81-9326-84360384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907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AF3/Boltz domain complexes + targeted 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4DBFC0-59F4-4A46-8006-C8A829AE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575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68E45C-2248-4712-966C-C045B9C9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43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48CEC-A384-42EC-9BDD-B1587EE8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432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力依赖 AIM release 还未直接测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5977D-D114-4388-BF3A-B2375548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432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saltbridge retention 仅作 face-retained 线索；SMD/force-MD 补 GOF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70EED-294A-4EE3-8B70-CC9DB627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099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FE426-D4EF-45D0-871D-EBA0543D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956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59C68B-3D56-4B42-B066-365EFC2E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956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GPIb LOF 与 collagen LOF 覆盖不足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927DE3-6C16-475B-AA2F-FB707949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956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1SQ0 A1-GPIb MD + A3-collagen Boltz/MD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0D428D-7954-488E-B511-3FCBA056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6240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643C7A-EE37-4388-A7E2-DB9B2EBD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C4EEEF-7DEF-4FF1-9A70-DFEDD4C9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4812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D'/D3-FVIII interface 需要更窄阈值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829F30-EB8B-4DED-B4DA-BE6542E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4812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Boltz/AF3 complex + PAE/contact calibration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B211CB-EF0E-41DC-9CEE-18EAA4FD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148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D0C0CE-BED9-45B3-9434-A482BBF2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0057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Type 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EDEBDF-8DB9-405A-BB9D-2A7FD2B7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600575"/>
            <a:ext cx="518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null/frameshift/biallelic severe absence 规则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83153-4E70-4B3D-8AD7-69CC552F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00575"/>
            <a:ext cx="422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variant consequence + genotype + AG/NMD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63C2A-F067-40BE-97B2-BAF1C8D4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Repo refs: scripts/07e_god_mode_epigenome_crawler.py lines 12-13, 120-122, 494-502; scripts/03_run_alphagenome_inference.py uses CL:0000115 for endothelial RNA/splice.</a:t>
            </a:r>
          </a:p>
        </p:txBody>
      </p:sp>
    </p:spTree>
    <p:extLst>
      <p:ext uri="{BB962C8B-B14F-4D97-AF65-F5344CB8AC3E}">
        <p14:creationId xmlns:p14="http://schemas.microsoft.com/office/powerpoint/2010/main" val="2651532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A9E7D6-3C72-4724-9C5F-7FFA09CD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A1 难点：2B 和 2M 都在同一结构域，但方向相反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5A35E-2BE5-46B0-B7C0-9920C69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2B 是 gain-of-function；2M 是 loss-of-function。去掉位置先验后，这个难点被真实暴露。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3BEB0-368F-4DFA-89C9-1B76A3F4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59833-CC9F-4607-A57E-76F18C09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604C4-BA62-4929-BF2C-62994DAD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8590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MD 指标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EB825-CA6F-48D2-AA29-84DE26A6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4859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直觉解释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690643-9C33-48DE-B9F3-AAC7EA35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85900"/>
            <a:ext cx="3752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怎么算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3D208-BFD8-479B-90F5-C0659572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4859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分类含义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DA9D7-F2C2-4B16-9417-E6E95B7F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993A2-CFAC-474B-8305-1DF634D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192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saltbridge retention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1728C-98F8-4D3E-BDB1-1D68BCCE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19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AIM-A1 的“锁/桥”是否还保留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97668-910C-45C2-945C-ABA1889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192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tail window 内关键 AIM-A1 salt bridge/contact 占有率，转 z-score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DD1A2-F357-4D01-8CC4-AE04D34A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19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高 z：面还在，anti-2M，支持 2B-compatible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2C08F-976D-43EB-8875-F6522FB9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6CBAC6-7F51-494E-8E0F-65F773EF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md_face_destab_score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93A6BC-01D3-4985-89B4-BA42493A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907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A1 结合面是否随时间变不稳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2124E-0E55-44F8-AC84-C985FE3B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907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(0-5ns AIM-A1 masking contacts − 40-50ns tail contacts) / 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7ED101-42D5-413A-A066-E4DE550B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907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高：接触面塌陷/不稳，支持 2M LOF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B6B5BC-89D5-4EF9-AC25-9E9B97C9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76550"/>
            <a:ext cx="11049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6FA51-1ACF-4C06-9D20-B33C7B5E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6227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tail window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FEC1A-DC94-416A-B650-056CA8BF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62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看生产轨迹最后 40-50ns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61412-3034-4145-8ECD-698CD073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62275"/>
            <a:ext cx="3752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不是每 ns 一个概率分布；是轨迹帧统计后取尾部均值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A47B01-A6BD-45C2-86FB-72585043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62275"/>
            <a:ext cx="2419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减少初始构象/松弛阶段影响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DE605A-0860-44A7-AA26-7AD86973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762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310DD3-0F3C-4CF5-9A92-42CE968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29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A5A"/>
                </a:solidFill>
              </a:defRPr>
            </a:pPr>
            <a:r>
              <a:rPr sz="1650" b="1">
                <a:solidFill>
                  <a:srgbClr val="168A5A"/>
                </a:solidFill>
              </a:rPr>
              <a:t>新 2M MD 信号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04ECA7-1988-4E3C-B506-BCD09A6F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719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L1276P/R/G1324R/A1377V 从 uncertain → 2M；2M recall +4，但 V1316M 等 2B 会被 face-destab 误伤。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FD29D-B2E7-43CC-8DC2-A2637CAB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762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4009F4-72E7-43D0-A937-3DB4F91F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29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文献边界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5D9BC-15C4-4C09-AC47-631A7B2E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文献明确 2B/2M 都可涉及 A1-GPIb 轴；2B 常为 A1 GOF/自发 GPIb 结合增强，2M 为 platelet-dependent function 下降。边界不是“域不同”，而是功能方向不同。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C6523D-5725-45C5-BDE5-A3A294DF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ASH/ISTH/NHF/WFH 2021 VWD guideline; Deng Blood 2017 AIM masks A1; PDB 7A6O/Nat Commun 2021 AIM-A1; repo MD report TYPE2M_LOF_MD_FAST_VALIDATION_REPORT.md.</a:t>
            </a:r>
          </a:p>
        </p:txBody>
      </p:sp>
    </p:spTree>
    <p:extLst>
      <p:ext uri="{BB962C8B-B14F-4D97-AF65-F5344CB8AC3E}">
        <p14:creationId xmlns:p14="http://schemas.microsoft.com/office/powerpoint/2010/main" val="17881577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01862E-B53F-47BF-8BC1-3B9D94FD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MD 与 SMD：先把可用轴跑通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7F171-0B7B-456C-A5CE-89B0D398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SMD/force-MD 更接近受力释放机制，但需要慢拉、多重复和严格校准；短期不宜作为第一生产轴。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745531-1ABA-4E89-A30C-C2CE841A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FBF1C-2E6C-42AB-8133-B0DADE42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1F210-14F4-4A90-848F-E9B7927F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8ABA7-A7FD-4731-98D4-1A3E8CEA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954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问的问题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3ED52-E401-41A9-A06D-3AE86D57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95450"/>
            <a:ext cx="2705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优点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90A30-20A0-4915-8776-BA2B07DC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95450"/>
            <a:ext cx="2990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瓶颈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1CECF-F789-419C-A121-DD48B4D1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89D9F-6202-4792-8A6C-9744B304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288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Equilibrium 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13E32-5233-48A2-84E5-75511CEF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02882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无外力下尾部稳定状态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B33934-DA09-4451-91BB-EA4A2789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288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可批量；已能提供 2M rescue / anti-2M 线索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6025F-B563-4959-BC1C-4084A06B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2882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看不到真正剪切/拉伸触发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E4B8F-F67B-4792-A464-D1A52CC4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D57D7-02D5-4CFE-ADE2-CB148E7A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0507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SMD / pull 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BBC45F-904C-4914-8EE7-EA476E8F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0507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沿反应坐标拉开需要多少力/功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3FCC6-41DA-47A9-A37B-E231A569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0507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更接近 AIM release / A2 unfolding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0FDB5-E1F4-49A2-A94F-F8EF0D6D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0507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非平衡；拉太快会失真；需多重复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B06F1-FB8D-41C2-8973-57D1FA37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1057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86F43C-6374-4432-919E-ACFDD72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Umbrella/PMF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7DB90-82E4-41C5-8859-456D73F2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8132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自由能曲线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4C86BC-B50A-4C8E-ABB8-CA6EC45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813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物理解释更强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CD5CEF-B335-4615-A984-6D1F925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8132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窗口多，成本最高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9F8038-707E-4B80-B586-00F85CEA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952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B45EF6-1F0B-404C-B4F8-9D861CEB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为什么慢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279338-2AE0-4E01-A815-F425D6C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29100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50 ns production 已是千万级步数；SMD 还要为每个变体做受力路径、重复轨迹和拉速敏感性分析。本地记录中 5 ns × 3 reps/variant 是小时级；异常争用下 WT 曾慢到约 1.4 ns/day。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F44E8-5108-479F-B711-BD07FA53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docs/7A6O_SMD_STATUS_HANDOFF_2026-06-21.md; docs/7A6O_SMD_WT_DIAGNOSIS_2026-06-21.md; GROMACS pull-code docs.</a:t>
            </a:r>
          </a:p>
        </p:txBody>
      </p:sp>
    </p:spTree>
    <p:extLst>
      <p:ext uri="{BB962C8B-B14F-4D97-AF65-F5344CB8AC3E}">
        <p14:creationId xmlns:p14="http://schemas.microsoft.com/office/powerpoint/2010/main" val="18241395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750C13-E268-41BF-A6D4-5C73E8C4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三类动力学方法：成本与收益不同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77F2A-0E30-4049-BFC9-7F541233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我们目前做的是第一类 equilibrium MD；SMD/PMF 只适合少量机制验证或高价值 case。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83F49-4DBD-435F-A610-8982369F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52770-B853-46F9-BDAC-A22AD352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CA4F9-175A-44AF-8305-EB0BD0AF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8A5A"/>
                </a:solidFill>
              </a:defRPr>
            </a:pPr>
            <a:r>
              <a:rPr sz="1950" b="1">
                <a:solidFill>
                  <a:srgbClr val="168A5A"/>
                </a:solidFill>
              </a:rPr>
              <a:t>Equilibrium 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9D8E1-FAB3-4B35-9CD7-B49023F2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无外力平衡动力学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50 ns production tail features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EBF18-7A0A-4B31-80AA-B9F19560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成本：每样本约小时-天级 GPU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收益：可批量，当前已带来 2B/2M 信号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CB1A8-87A4-480D-85FF-FD267889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DB274-25E2-4560-A97B-6317853B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6B35"/>
                </a:solidFill>
              </a:defRPr>
            </a:pPr>
            <a:r>
              <a:rPr sz="1950" b="1">
                <a:solidFill>
                  <a:srgbClr val="FF6B35"/>
                </a:solidFill>
              </a:rPr>
              <a:t>SMD probe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88A43-0F48-41F2-9202-D5236A50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Steered MD / constant-velocity pulling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沿反应坐标拉开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EBF55-0309-4473-8448-617BFC90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本地配置：5 ns × 3 reps/variant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成本：小时级/variant，慢速校准更贵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40E6F-E685-4EBA-AC08-2DF84195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26D9E2-6869-470C-A9C3-78C4EF6C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PMF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099C5-7D3A-4FE5-A729-91D65BC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umbrella sampling + potential of mean force</a:t>
            </a:r>
          </a:p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多窗口自由能曲线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F5FF1-2C05-417C-B185-8CDE556D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成本：每样本最高，通常只做少数代表</a:t>
            </a:r>
          </a:p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收益：机制论文级证据，不适合全量预测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85C07F-111B-4A3D-AA60-CCF51316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当前策略：SMD/PMF 用于高价值 case 的机制确认；短期批量提升 recall 仍优先 equilibrium MD + score fusion。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AAD67E-E456-4EA5-A287-C81A40E1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Local SMD record: 5 ns production replicate at 1 nm/ns, 3 reps/variant; GROMACS pull-code docs: non-equilibrium pulling requires path/repetition care.</a:t>
            </a:r>
          </a:p>
        </p:txBody>
      </p:sp>
    </p:spTree>
    <p:extLst>
      <p:ext uri="{BB962C8B-B14F-4D97-AF65-F5344CB8AC3E}">
        <p14:creationId xmlns:p14="http://schemas.microsoft.com/office/powerpoint/2010/main" val="5525499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6323CF-5098-4AE2-85E4-55AE3662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预期提升：保持保守，先追求 50-70% recall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933EB-2C25-4DF4-8FDE-9D63CAEF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目前不应承诺 80-90%；先把每个分型稳定推入 50-70% 区间更可信。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00D8D-E2D9-42BD-BD28-15F13E80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3F34A-702B-4021-9A3C-BA966644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66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7264E-669B-47EB-B0B5-6CB9272F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分型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6BAE9-8C07-4EF6-A698-DCE8D331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485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当前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34D813-00FF-4CF2-B0E3-5F66B2BA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859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补齐机制后目标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7C734-15EF-4DA6-8B4B-25447BD3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485900"/>
            <a:ext cx="575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主要抓手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BBB30-4081-47C9-90C3-E4B1555F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D7AF1-9627-4022-9F73-F62260FA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A537B-FA4B-4B8C-B2CA-DCC726AC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192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0/115*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9A2F9-1AA4-4432-9686-FF9519C7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192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D260B-EABE-4A1A-BE91-60709CE6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192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AG RNA/splice/regulatory proxy + secretion/clearance proxy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FE4DC-9BF5-4832-BF13-F8E63232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9AD0C-2B5C-4100-80FA-E4749C39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B0FA1-21FD-41D0-AD55-915E51F5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336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70/118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22F89-8691-44F1-AD52-D0257AAD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336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61CCB1-3B9A-44E0-AC22-45D8AB1B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336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A2/A3/D4 多聚体与 ADAMTS13 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82BD6-101C-4FAF-9B78-3E6A63D5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622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BCEB99-5C99-42BC-95E4-06F10597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479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C170C-EF8C-467F-A7F3-37DA8958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479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15/38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1D4FA-36ED-4317-830D-2C725D8F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47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30C1B6-C608-4762-94DD-E9E7075F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8479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force-release/SMD + GPIb retained/increased + saltbridge retention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835BD3-4FEF-4E0A-B01D-24B24FAE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136563-FDC3-4CEF-ABA9-2280A8C6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623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99D0C-51CC-4152-B3D5-1B3309A3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623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25/53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A4FE9B-5AC0-4CFA-8545-2DCE57C9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623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50-65%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51C67F-00F4-4E59-B18E-032C41BD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3623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A1-GPIb LOF + A3 collagen + MD score fusion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6401F8-6C4E-425F-BF00-60CE038B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B84E2B-C70D-4F6E-99E3-6B3B6AD5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2N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E86057-02D5-4386-BBFA-167F2A29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87667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12/16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A89ECB-BBA3-4B4C-98E1-8233065F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8766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B73419-950A-48B2-90BA-6C275C65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7667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D'/D3-FVIII interface tightening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D093BD-004E-4195-BD92-3E9C2AA0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9288E5-3D92-46FE-880E-24660CD6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91025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5BFFD5-BE28-4103-B365-28E0FC83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91025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未纳入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8D750F-79FE-4B6D-8747-CCC73578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910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60-70% for null-rich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F44D73-524B-49BD-A9ED-CC59A4CE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91025"/>
            <a:ext cx="575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consequence/genotype/NMD module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D245F7-04D3-41F8-98B1-EB737756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* Type 1 当前进入 Eval 但规则未真正覆盖；因此不能当作系统最终能力。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032414-2888-4F02-85A2-145E4E03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Target bands are conservative planning estimates, not validated claims.</a:t>
            </a:r>
          </a:p>
        </p:txBody>
      </p:sp>
    </p:spTree>
    <p:extLst>
      <p:ext uri="{BB962C8B-B14F-4D97-AF65-F5344CB8AC3E}">
        <p14:creationId xmlns:p14="http://schemas.microsoft.com/office/powerpoint/2010/main" val="20260079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B9B00A-1B06-42F0-AB68-6D97539E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研究定位：subtype mechanism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D2C03-EB5A-460A-A1CA-C0FAB031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现有 AI 变异工具多回答“是否有害”；我们的问题是“有害通过哪条 VWF 机制表现为哪个 subtype”。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9285E-D20D-4F0D-941E-D7D41EE8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D5BF6-6E30-4919-8CFD-CEE413A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44AA5-1A06-47FA-B0E3-343E7EA2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相关方向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53567-CBA5-42E5-933A-49E4D880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504950"/>
            <a:ext cx="365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已有能力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88098-D94B-4974-8296-F5CD2EED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04950"/>
            <a:ext cx="461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留下的空白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5F17E-3B06-4041-B56F-A7D9E5D0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9AAAA-A164-467F-AF5F-5A69AF46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ClinGen/ACMG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B474C-2F97-4BCB-B169-CD98718B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383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VWF rule specifications + curated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975E2-D375-4BD8-AB25-3951222B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383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可作 pathogenicity/curation baseline；不是前瞻机制预测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92B33F-8838-44B3-97F7-E46DD75B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27768-A2F6-4A2B-8BC2-B8164A58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AlphaMissense/VEP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6D87A-3FCE-40ED-9C5D-EECAC24F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5267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missense pathogenicity prior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7483C-A5D2-4260-A34B-09727D25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5267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不直接给 VWD subtype 和机制方向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93FF2-2157-4877-9777-A499F419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09C57-0CE0-49E9-8AEE-C004D0FD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AF3/Boltz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957B1-5A0C-42EE-8858-A5D908F1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8670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复合体结构与 confidence/affinity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DCD82-B037-4D0C-9459-626865F9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670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静态结构不能覆盖动力学/剪切触发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8E94C1-8875-4DCB-B001-77BFEF4B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0514BE-C208-421C-B96E-93935FC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Medical LLM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74E708-144C-4760-BD48-349ACB8B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38137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多专家推理框架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DC0E11-0A0E-463C-870A-B5A0AF96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8137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缺少 VWF 特异结构-功能证据链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863790-2F39-4661-9B18-1CD4B1DB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33E297-2B17-498B-8045-15731504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本项目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8192E-7BD8-4CBB-A625-09DED50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95725"/>
            <a:ext cx="3657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结构+AG+MD+规则解释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82900-D9A5-40E8-90A9-BD851088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95725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需要更完整 Type 1/3 与 2M/2A 机制模块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1DDEF-4614-4E8B-9C0A-CF9C2AB1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334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38FC9C-CB1F-4032-8BCB-D3BEB2D6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57750"/>
            <a:ext cx="866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研究问题：能否用结构预测、功能扰动和动力学特征，把 VWD subtype 诊断从表型标签推进为 variant-level 的机制可解释分型？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31EF5B-ECA4-41DB-B079-5F6F4BE0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Sources: ClinGen VWD VCEP / CSpec registry; AF3 Nature 2024; Boltz-2; AlphaMissense Science 2023.</a:t>
            </a:r>
          </a:p>
        </p:txBody>
      </p:sp>
    </p:spTree>
    <p:extLst>
      <p:ext uri="{BB962C8B-B14F-4D97-AF65-F5344CB8AC3E}">
        <p14:creationId xmlns:p14="http://schemas.microsoft.com/office/powerpoint/2010/main" val="23048567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554A1-3914-4A08-B566-05870CF5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895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Take-home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E479E-CBC8-4D25-99FB-47B7639D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66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无位置记忆后的结果更保守，也更能暴露真正的机制缺口。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A74F7-E503-4F94-8A2D-0E8DCCF9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57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VWF-ETHos · 2026-06-29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81E66-5E22-47B3-8D51-1A03EC39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525">
            <a:solidFill>
              <a:srgbClr val="C7D7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B44C5-616C-4A6C-B2A7-42AF9051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09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1. 命名可行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881EA-7952-4100-8423-14C24BD8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“机制驱动的 VWD 智能体辅助分型/诊断系统”符合项目实质；定位为 research prototype / decision support。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08DDB-B19A-4128-B68C-F2080641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8"/>
          </a:solidFill>
          <a:ln xmlns:a="http://schemas.openxmlformats.org/drawingml/2006/main" w="9525">
            <a:solidFill>
              <a:srgbClr val="BBE7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D4348-C331-430A-8C8A-B6127F7A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8A5A"/>
                </a:solidFill>
              </a:defRPr>
            </a:pPr>
            <a:r>
              <a:rPr sz="1800" b="1">
                <a:solidFill>
                  <a:srgbClr val="168A5A"/>
                </a:solidFill>
              </a:rPr>
              <a:t>2. 已有价值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B8DBF-EEE4-4C92-A853-AD1B009A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删掉 hotspot 后系统更干净；2M MD rescue 更可信，但 2B recall 暴露出缺少 force-release/GOF 动态证据。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96CAD-065E-4702-BFA3-2D70784F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287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FF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D7B2D-7902-462B-87A6-EB4BD9E5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6B35"/>
                </a:solidFill>
              </a:defRPr>
            </a:pPr>
            <a:r>
              <a:rPr sz="1800" b="1">
                <a:solidFill>
                  <a:srgbClr val="FF6B35"/>
                </a:solidFill>
              </a:rPr>
              <a:t>3. 下一步明确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3DC45-AADD-4380-9AFD-8FC342DD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7670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补 Type 1/3、重构 A1 score fusion、扩大 2M LOF 与 2A/2N 机制特征，是提升 recall 的主路径。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16EF3-5FAB-4B8B-BD39-FB3FCCFB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77777"/>
                </a:solidFill>
              </a:defRPr>
            </a:pPr>
            <a:r>
              <a:rPr sz="825" b="0">
                <a:solidFill>
                  <a:srgbClr val="777777"/>
                </a:solidFill>
              </a:rPr>
              <a:t>This deck is editable; numbers reflect the latest local Eval artifacts on 2026-06-29.</a:t>
            </a:r>
          </a:p>
        </p:txBody>
      </p:sp>
    </p:spTree>
    <p:extLst>
      <p:ext uri="{BB962C8B-B14F-4D97-AF65-F5344CB8AC3E}">
        <p14:creationId xmlns:p14="http://schemas.microsoft.com/office/powerpoint/2010/main" val="8477874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2026-06-29T12:36:34.2420000Z</dcterms:created>
  <dcterms:modified xsi:type="dcterms:W3CDTF">2026-06-29T12:36:34.2420000Z</dcterms:modified>
</coreProperties>
</file>